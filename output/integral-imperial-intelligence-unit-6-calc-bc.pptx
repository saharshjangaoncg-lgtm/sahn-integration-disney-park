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5da197e6744486" /><Relationship Type="http://schemas.openxmlformats.org/officeDocument/2006/relationships/extended-properties" Target="/docProps/app.xml" Id="R59ed8b2b89bb43f9" /><Relationship Type="http://schemas.openxmlformats.org/officeDocument/2006/relationships/officeDocument" Target="/ppt/presentation.xml" Id="R179fde41436c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64d24c80244dd3"/>
  </p:sldMasterIdLst>
  <p:notesMasterIdLst>
    <p:notesMasterId xmlns:r="http://schemas.openxmlformats.org/officeDocument/2006/relationships" r:id="R617f24a031b94439"/>
  </p:notesMasterIdLst>
  <p:sldIdLst>
    <p:sldId xmlns:r="http://schemas.openxmlformats.org/officeDocument/2006/relationships" id="256" r:id="Rd3606532f8f24d8a"/>
    <p:sldId xmlns:r="http://schemas.openxmlformats.org/officeDocument/2006/relationships" id="257" r:id="R1a83f4d8ea73407c"/>
    <p:sldId xmlns:r="http://schemas.openxmlformats.org/officeDocument/2006/relationships" id="258" r:id="R6956a5a617814feb"/>
    <p:sldId xmlns:r="http://schemas.openxmlformats.org/officeDocument/2006/relationships" id="259" r:id="R204046d8f54a46a6"/>
    <p:sldId xmlns:r="http://schemas.openxmlformats.org/officeDocument/2006/relationships" id="260" r:id="R3cb00b5540ff4aaf"/>
    <p:sldId xmlns:r="http://schemas.openxmlformats.org/officeDocument/2006/relationships" id="261" r:id="R5fca26156943410c"/>
    <p:sldId xmlns:r="http://schemas.openxmlformats.org/officeDocument/2006/relationships" id="262" r:id="Rd756840596c94ce3"/>
    <p:sldId xmlns:r="http://schemas.openxmlformats.org/officeDocument/2006/relationships" id="263" r:id="R63582754376b4916"/>
    <p:sldId xmlns:r="http://schemas.openxmlformats.org/officeDocument/2006/relationships" id="264" r:id="R4f743cc13c894735"/>
    <p:sldId xmlns:r="http://schemas.openxmlformats.org/officeDocument/2006/relationships" id="265" r:id="R8d26d5ed72704e98"/>
    <p:sldId xmlns:r="http://schemas.openxmlformats.org/officeDocument/2006/relationships" id="266" r:id="R25c6740f4fd44f12"/>
    <p:sldId xmlns:r="http://schemas.openxmlformats.org/officeDocument/2006/relationships" id="267" r:id="R322742896df7423e"/>
    <p:sldId xmlns:r="http://schemas.openxmlformats.org/officeDocument/2006/relationships" id="268" r:id="R1ef311c5bbd5424a"/>
    <p:sldId xmlns:r="http://schemas.openxmlformats.org/officeDocument/2006/relationships" id="269" r:id="R7a9162fef56c44e7"/>
    <p:sldId xmlns:r="http://schemas.openxmlformats.org/officeDocument/2006/relationships" id="270" r:id="R8c85348a89bf4189"/>
    <p:sldId xmlns:r="http://schemas.openxmlformats.org/officeDocument/2006/relationships" id="271" r:id="R689c7d1e27e84636"/>
    <p:sldId xmlns:r="http://schemas.openxmlformats.org/officeDocument/2006/relationships" id="272" r:id="R6b38ff83cd654b9d"/>
    <p:sldId xmlns:r="http://schemas.openxmlformats.org/officeDocument/2006/relationships" id="273" r:id="R368e08c716f040a4"/>
    <p:sldId xmlns:r="http://schemas.openxmlformats.org/officeDocument/2006/relationships" id="274" r:id="R7c4652823acd4ef3"/>
    <p:sldId xmlns:r="http://schemas.openxmlformats.org/officeDocument/2006/relationships" id="275" r:id="R002e388ff2204eb8"/>
    <p:sldId xmlns:r="http://schemas.openxmlformats.org/officeDocument/2006/relationships" id="276" r:id="Rca562dee79d54343"/>
    <p:sldId xmlns:r="http://schemas.openxmlformats.org/officeDocument/2006/relationships" id="277" r:id="R5d44db70b3f64b5b"/>
    <p:sldId xmlns:r="http://schemas.openxmlformats.org/officeDocument/2006/relationships" id="278" r:id="Rb7e1809a8aaa4ebb"/>
    <p:sldId xmlns:r="http://schemas.openxmlformats.org/officeDocument/2006/relationships" id="279" r:id="Rd78701e581de4496"/>
    <p:sldId xmlns:r="http://schemas.openxmlformats.org/officeDocument/2006/relationships" id="280" r:id="Rca0fb11824ca4aa5"/>
    <p:sldId xmlns:r="http://schemas.openxmlformats.org/officeDocument/2006/relationships" id="281" r:id="Re5d2a7b7d6864438"/>
    <p:sldId xmlns:r="http://schemas.openxmlformats.org/officeDocument/2006/relationships" id="282" r:id="Re3cbe3a5e4f24dd4"/>
    <p:sldId xmlns:r="http://schemas.openxmlformats.org/officeDocument/2006/relationships" id="283" r:id="R54d854c599e24ada"/>
    <p:sldId xmlns:r="http://schemas.openxmlformats.org/officeDocument/2006/relationships" id="284" r:id="R65a8393da9c9431e"/>
    <p:sldId xmlns:r="http://schemas.openxmlformats.org/officeDocument/2006/relationships" id="285" r:id="R2d601178bd4741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4d24c80244dd3" /><Relationship Type="http://schemas.openxmlformats.org/officeDocument/2006/relationships/theme" Target="/ppt/theme/theme1.xml" Id="R911e1a13396a4af4" /><Relationship Type="http://schemas.openxmlformats.org/officeDocument/2006/relationships/notesMaster" Target="/ppt/notesMasters/notesMaster1.xml" Id="R617f24a031b94439" /><Relationship Type="http://schemas.openxmlformats.org/officeDocument/2006/relationships/presProps" Target="/ppt/presProps.xml" Id="R5211353efaf84486" /><Relationship Type="http://schemas.openxmlformats.org/officeDocument/2006/relationships/viewProps" Target="/ppt/viewProps.xml" Id="Rc4a3415438b9407b" /><Relationship Type="http://schemas.openxmlformats.org/officeDocument/2006/relationships/tableStyles" Target="/ppt/tableStyles.xml" Id="Rac05682ad9d441b9" /><Relationship Type="http://schemas.openxmlformats.org/officeDocument/2006/relationships/slide" Target="/ppt/slides/slide1.xml" Id="Rd3606532f8f24d8a" /><Relationship Type="http://schemas.openxmlformats.org/officeDocument/2006/relationships/slide" Target="/ppt/slides/slide2.xml" Id="R1a83f4d8ea73407c" /><Relationship Type="http://schemas.openxmlformats.org/officeDocument/2006/relationships/slide" Target="/ppt/slides/slide3.xml" Id="R6956a5a617814feb" /><Relationship Type="http://schemas.openxmlformats.org/officeDocument/2006/relationships/slide" Target="/ppt/slides/slide4.xml" Id="R204046d8f54a46a6" /><Relationship Type="http://schemas.openxmlformats.org/officeDocument/2006/relationships/slide" Target="/ppt/slides/slide5.xml" Id="R3cb00b5540ff4aaf" /><Relationship Type="http://schemas.openxmlformats.org/officeDocument/2006/relationships/slide" Target="/ppt/slides/slide6.xml" Id="R5fca26156943410c" /><Relationship Type="http://schemas.openxmlformats.org/officeDocument/2006/relationships/slide" Target="/ppt/slides/slide7.xml" Id="Rd756840596c94ce3" /><Relationship Type="http://schemas.openxmlformats.org/officeDocument/2006/relationships/slide" Target="/ppt/slides/slide8.xml" Id="R63582754376b4916" /><Relationship Type="http://schemas.openxmlformats.org/officeDocument/2006/relationships/slide" Target="/ppt/slides/slide9.xml" Id="R4f743cc13c894735" /><Relationship Type="http://schemas.openxmlformats.org/officeDocument/2006/relationships/slide" Target="/ppt/slides/slide10.xml" Id="R8d26d5ed72704e98" /><Relationship Type="http://schemas.openxmlformats.org/officeDocument/2006/relationships/slide" Target="/ppt/slides/slide11.xml" Id="R25c6740f4fd44f12" /><Relationship Type="http://schemas.openxmlformats.org/officeDocument/2006/relationships/slide" Target="/ppt/slides/slide12.xml" Id="R322742896df7423e" /><Relationship Type="http://schemas.openxmlformats.org/officeDocument/2006/relationships/slide" Target="/ppt/slides/slide13.xml" Id="R1ef311c5bbd5424a" /><Relationship Type="http://schemas.openxmlformats.org/officeDocument/2006/relationships/slide" Target="/ppt/slides/slide14.xml" Id="R7a9162fef56c44e7" /><Relationship Type="http://schemas.openxmlformats.org/officeDocument/2006/relationships/slide" Target="/ppt/slides/slide15.xml" Id="R8c85348a89bf4189" /><Relationship Type="http://schemas.openxmlformats.org/officeDocument/2006/relationships/slide" Target="/ppt/slides/slide16.xml" Id="R689c7d1e27e84636" /><Relationship Type="http://schemas.openxmlformats.org/officeDocument/2006/relationships/slide" Target="/ppt/slides/slide17.xml" Id="R6b38ff83cd654b9d" /><Relationship Type="http://schemas.openxmlformats.org/officeDocument/2006/relationships/slide" Target="/ppt/slides/slide18.xml" Id="R368e08c716f040a4" /><Relationship Type="http://schemas.openxmlformats.org/officeDocument/2006/relationships/slide" Target="/ppt/slides/slide19.xml" Id="R7c4652823acd4ef3" /><Relationship Type="http://schemas.openxmlformats.org/officeDocument/2006/relationships/slide" Target="/ppt/slides/slide20.xml" Id="R002e388ff2204eb8" /><Relationship Type="http://schemas.openxmlformats.org/officeDocument/2006/relationships/slide" Target="/ppt/slides/slide21.xml" Id="Rca562dee79d54343" /><Relationship Type="http://schemas.openxmlformats.org/officeDocument/2006/relationships/slide" Target="/ppt/slides/slide22.xml" Id="R5d44db70b3f64b5b" /><Relationship Type="http://schemas.openxmlformats.org/officeDocument/2006/relationships/slide" Target="/ppt/slides/slide23.xml" Id="Rb7e1809a8aaa4ebb" /><Relationship Type="http://schemas.openxmlformats.org/officeDocument/2006/relationships/slide" Target="/ppt/slides/slide24.xml" Id="Rd78701e581de4496" /><Relationship Type="http://schemas.openxmlformats.org/officeDocument/2006/relationships/slide" Target="/ppt/slides/slide25.xml" Id="Rca0fb11824ca4aa5" /><Relationship Type="http://schemas.openxmlformats.org/officeDocument/2006/relationships/slide" Target="/ppt/slides/slide26.xml" Id="Re5d2a7b7d6864438" /><Relationship Type="http://schemas.openxmlformats.org/officeDocument/2006/relationships/slide" Target="/ppt/slides/slide27.xml" Id="Re3cbe3a5e4f24dd4" /><Relationship Type="http://schemas.openxmlformats.org/officeDocument/2006/relationships/slide" Target="/ppt/slides/slide28.xml" Id="R54d854c599e24ada" /><Relationship Type="http://schemas.openxmlformats.org/officeDocument/2006/relationships/slide" Target="/ppt/slides/slide29.xml" Id="R65a8393da9c9431e" /><Relationship Type="http://schemas.openxmlformats.org/officeDocument/2006/relationships/slide" Target="/ppt/slides/slide30.xml" Id="R2d601178bd47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f529ca794943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Integral Imperial Intelligence">
  <a:themeElements>
    <a:clrScheme name="Integral Imperial Intelligence"/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ntegral Imperial Intellige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/>
      <a:effectStyleLst/>
      <a:bgFillStyleLst/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e6fb2e31d34976" /><Relationship Type="http://schemas.openxmlformats.org/officeDocument/2006/relationships/notesMaster" Target="/ppt/notesMasters/notesMaster1.xml" Id="R76ec7fe4edcf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5011db7aaa4181" /><Relationship Type="http://schemas.openxmlformats.org/officeDocument/2006/relationships/notesMaster" Target="/ppt/notesMasters/notesMaster1.xml" Id="R9bd0f91042d3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a664d5edce49b1" /><Relationship Type="http://schemas.openxmlformats.org/officeDocument/2006/relationships/notesMaster" Target="/ppt/notesMasters/notesMaster1.xml" Id="R2207eb673c06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165408ab34279" /><Relationship Type="http://schemas.openxmlformats.org/officeDocument/2006/relationships/notesMaster" Target="/ppt/notesMasters/notesMaster1.xml" Id="R53e5fc16423b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76d3649ac24991" /><Relationship Type="http://schemas.openxmlformats.org/officeDocument/2006/relationships/notesMaster" Target="/ppt/notesMasters/notesMaster1.xml" Id="R456cba6f77464a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0ecd0cb68d4dac" /><Relationship Type="http://schemas.openxmlformats.org/officeDocument/2006/relationships/notesMaster" Target="/ppt/notesMasters/notesMaster1.xml" Id="R012022151cd3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43c31e77604d75" /><Relationship Type="http://schemas.openxmlformats.org/officeDocument/2006/relationships/notesMaster" Target="/ppt/notesMasters/notesMaster1.xml" Id="R1fc1192b7968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e2610941ca4642" /><Relationship Type="http://schemas.openxmlformats.org/officeDocument/2006/relationships/notesMaster" Target="/ppt/notesMasters/notesMaster1.xml" Id="Rf50aff7687304e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9ab904fc94d1e" /><Relationship Type="http://schemas.openxmlformats.org/officeDocument/2006/relationships/notesMaster" Target="/ppt/notesMasters/notesMaster1.xml" Id="R09d1150992bb47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2d5ae4fd0047b3" /><Relationship Type="http://schemas.openxmlformats.org/officeDocument/2006/relationships/notesMaster" Target="/ppt/notesMasters/notesMaster1.xml" Id="R1d49967613b447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46295003484104" /><Relationship Type="http://schemas.openxmlformats.org/officeDocument/2006/relationships/notesMaster" Target="/ppt/notesMasters/notesMaster1.xml" Id="R70c7ed819c124a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3c2193facc43b4" /><Relationship Type="http://schemas.openxmlformats.org/officeDocument/2006/relationships/notesMaster" Target="/ppt/notesMasters/notesMaster1.xml" Id="R1d736b2bf3c946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22fe6483c14745" /><Relationship Type="http://schemas.openxmlformats.org/officeDocument/2006/relationships/notesMaster" Target="/ppt/notesMasters/notesMaster1.xml" Id="R592e4b04d95440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f45bb0f5c24088" /><Relationship Type="http://schemas.openxmlformats.org/officeDocument/2006/relationships/notesMaster" Target="/ppt/notesMasters/notesMaster1.xml" Id="Re804d9ffe57843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c50757b11f46a2" /><Relationship Type="http://schemas.openxmlformats.org/officeDocument/2006/relationships/notesMaster" Target="/ppt/notesMasters/notesMaster1.xml" Id="R941f99425e7342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3977240a3a473a" /><Relationship Type="http://schemas.openxmlformats.org/officeDocument/2006/relationships/notesMaster" Target="/ppt/notesMasters/notesMaster1.xml" Id="R882974fb645543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8e70518caf4294" /><Relationship Type="http://schemas.openxmlformats.org/officeDocument/2006/relationships/notesMaster" Target="/ppt/notesMasters/notesMaster1.xml" Id="Ra8a794f3133d47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246ff2931e4569" /><Relationship Type="http://schemas.openxmlformats.org/officeDocument/2006/relationships/notesMaster" Target="/ppt/notesMasters/notesMaster1.xml" Id="R08838dceb6a24b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6c1971685749cb" /><Relationship Type="http://schemas.openxmlformats.org/officeDocument/2006/relationships/notesMaster" Target="/ppt/notesMasters/notesMaster1.xml" Id="Rd67958bf54a344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ba1ff53fa34c7d" /><Relationship Type="http://schemas.openxmlformats.org/officeDocument/2006/relationships/notesMaster" Target="/ppt/notesMasters/notesMaster1.xml" Id="Re0b4d6f63eca44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7101da57854c79" /><Relationship Type="http://schemas.openxmlformats.org/officeDocument/2006/relationships/notesMaster" Target="/ppt/notesMasters/notesMaster1.xml" Id="R8a9421835cf147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8bb2a463524317" /><Relationship Type="http://schemas.openxmlformats.org/officeDocument/2006/relationships/notesMaster" Target="/ppt/notesMasters/notesMaster1.xml" Id="R66a5e9cb5cd342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009f297d75466e" /><Relationship Type="http://schemas.openxmlformats.org/officeDocument/2006/relationships/notesMaster" Target="/ppt/notesMasters/notesMaster1.xml" Id="R1a0e18e4b35142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072c5fd9f94ef4" /><Relationship Type="http://schemas.openxmlformats.org/officeDocument/2006/relationships/notesMaster" Target="/ppt/notesMasters/notesMaster1.xml" Id="Rf28d1be33fc84d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57aede93dd4ce4" /><Relationship Type="http://schemas.openxmlformats.org/officeDocument/2006/relationships/notesMaster" Target="/ppt/notesMasters/notesMaster1.xml" Id="R1c296efdb4f54b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aac4c686294d10" /><Relationship Type="http://schemas.openxmlformats.org/officeDocument/2006/relationships/notesMaster" Target="/ppt/notesMasters/notesMaster1.xml" Id="Re6e2ce14e8b247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f9f4a973d04ae3" /><Relationship Type="http://schemas.openxmlformats.org/officeDocument/2006/relationships/notesMaster" Target="/ppt/notesMasters/notesMaster1.xml" Id="R14bbeb14688542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0985fad6554acb" /><Relationship Type="http://schemas.openxmlformats.org/officeDocument/2006/relationships/notesMaster" Target="/ppt/notesMasters/notesMaster1.xml" Id="R5ca180ef786246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08b0c7453034d29" /><Relationship Type="http://schemas.openxmlformats.org/officeDocument/2006/relationships/notesMaster" Target="/ppt/notesMasters/notesMaster1.xml" Id="Re257c0ef2f334e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eb617d67514a6e" /><Relationship Type="http://schemas.openxmlformats.org/officeDocument/2006/relationships/notesMaster" Target="/ppt/notesMasters/notesMaster1.xml" Id="Re5becb5f539f48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showing the Notion page, then explain that this slide deck teaches the same concepts tested in the multiplayer quiz.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mirrors College Board's Unit 6 outline: definite integrals, Riemann sums, accumulation functions, FTC, antiderivatives, techniques, and improper integrals.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motion example: miles/hour times hours gives miles. This makes the integral feel less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to the Frozen Accumulation Vault question in the game.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identify which x-values are used before doing arithmetic.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pattern: single, double, single.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key bridge slide. Students often miss that the interval becomes the bounds.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matches several fast game questions where students can score by knowing properties.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the integral accumulates, the derivative asks how fast the accumulation is changing.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two moves: substitute, multiply.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most-used exact evaluation tool in the unit.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why n=-1 cannot use the same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formula checkpoint before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phrase 'derivative is already there' is the student-friendly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students choose one path and stick to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between plain log patterns and partial fraction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BC extension-style technique that rewards algebra patience.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do algebra before calculus when algebra makes the function simpler.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LIATE as a heuristic, not a law.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another BC extension-style method and appears in the game.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students name where the problem is improper before solving.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infinity case with the zero-endpoint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decision tree students should use during the game.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starting the live quiz so students know what to watch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explain that the code creates classroom engagement, not just a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answer verbally first, then start the game.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explanation for why the project uses both Notion and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makes the project teacher-friendly because it includes an assessment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data/questions.js and explaining that the project is reusable.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checked April 30, 2026: College Board AP Calculus BC course page and AP Central course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19633fee74ddf" /><Relationship Type="http://schemas.openxmlformats.org/officeDocument/2006/relationships/theme" Target="/ppt/theme/theme1.xml" Id="Rfc790c7d43aa450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10219633fee74ddf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eb66f2d02443a" /><Relationship Type="http://schemas.openxmlformats.org/officeDocument/2006/relationships/notesSlide" Target="/ppt/notesSlides/notesSlide1.xml" Id="Re2b2cfe373a941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42cd003e54aa6" /><Relationship Type="http://schemas.openxmlformats.org/officeDocument/2006/relationships/notesSlide" Target="/ppt/notesSlides/notesSlide2.xml" Id="R7a6e75bc4ff8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40a5603074007" /><Relationship Type="http://schemas.openxmlformats.org/officeDocument/2006/relationships/notesSlide" Target="/ppt/notesSlides/notesSlide3.xml" Id="R33a19a8b74e0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82ebbea524fb7" /><Relationship Type="http://schemas.openxmlformats.org/officeDocument/2006/relationships/notesSlide" Target="/ppt/notesSlides/notesSlide4.xml" Id="R0a20835317ba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e2723a39f49d0" /><Relationship Type="http://schemas.openxmlformats.org/officeDocument/2006/relationships/notesSlide" Target="/ppt/notesSlides/notesSlide5.xml" Id="R0aa0b08396f5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a08cdbc49438b" /><Relationship Type="http://schemas.openxmlformats.org/officeDocument/2006/relationships/notesSlide" Target="/ppt/notesSlides/notesSlide6.xml" Id="Rbffa8685ea884a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152b32fa46a3" /><Relationship Type="http://schemas.openxmlformats.org/officeDocument/2006/relationships/notesSlide" Target="/ppt/notesSlides/notesSlide7.xml" Id="R2321f6de43bc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1088f62024063" /><Relationship Type="http://schemas.openxmlformats.org/officeDocument/2006/relationships/notesSlide" Target="/ppt/notesSlides/notesSlide8.xml" Id="R87dbf117a0bd4a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7bf8a537c4427" /><Relationship Type="http://schemas.openxmlformats.org/officeDocument/2006/relationships/notesSlide" Target="/ppt/notesSlides/notesSlide9.xml" Id="Rf57ac3c47f6b40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8a8b204024755" /><Relationship Type="http://schemas.openxmlformats.org/officeDocument/2006/relationships/notesSlide" Target="/ppt/notesSlides/notesSlide10.xml" Id="R8ab35627e2af4d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db8b0b1604bc8" /><Relationship Type="http://schemas.openxmlformats.org/officeDocument/2006/relationships/notesSlide" Target="/ppt/notesSlides/notesSlide11.xml" Id="R30385ffc11f649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46a5606824d32" /><Relationship Type="http://schemas.openxmlformats.org/officeDocument/2006/relationships/notesSlide" Target="/ppt/notesSlides/notesSlide12.xml" Id="R613b525e54b840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ff8ce52f24a08" /><Relationship Type="http://schemas.openxmlformats.org/officeDocument/2006/relationships/notesSlide" Target="/ppt/notesSlides/notesSlide13.xml" Id="R41e298ab85f145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53f652ae435b" /><Relationship Type="http://schemas.openxmlformats.org/officeDocument/2006/relationships/notesSlide" Target="/ppt/notesSlides/notesSlide14.xml" Id="Rf9bb576c860e4e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e54ea299e419d" /><Relationship Type="http://schemas.openxmlformats.org/officeDocument/2006/relationships/notesSlide" Target="/ppt/notesSlides/notesSlide15.xml" Id="R1172666b1fb64c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7431418a94338" /><Relationship Type="http://schemas.openxmlformats.org/officeDocument/2006/relationships/notesSlide" Target="/ppt/notesSlides/notesSlide16.xml" Id="R920c323167cf4c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fe5e6f2e4aa1" /><Relationship Type="http://schemas.openxmlformats.org/officeDocument/2006/relationships/notesSlide" Target="/ppt/notesSlides/notesSlide17.xml" Id="Recd74dee18444f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119ea6c08403b" /><Relationship Type="http://schemas.openxmlformats.org/officeDocument/2006/relationships/notesSlide" Target="/ppt/notesSlides/notesSlide18.xml" Id="Ra9e3332d81074a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fc25424c64a31" /><Relationship Type="http://schemas.openxmlformats.org/officeDocument/2006/relationships/notesSlide" Target="/ppt/notesSlides/notesSlide19.xml" Id="R9dabd63c5f964e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7d80239144711" /><Relationship Type="http://schemas.openxmlformats.org/officeDocument/2006/relationships/notesSlide" Target="/ppt/notesSlides/notesSlide20.xml" Id="Ra50324c8c55842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f78f213f24aac" /><Relationship Type="http://schemas.openxmlformats.org/officeDocument/2006/relationships/notesSlide" Target="/ppt/notesSlides/notesSlide21.xml" Id="Rc06a7bee106547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87812c65a46a3" /><Relationship Type="http://schemas.openxmlformats.org/officeDocument/2006/relationships/notesSlide" Target="/ppt/notesSlides/notesSlide22.xml" Id="Rda9a2a306a5c4f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4f10de3c241df" /><Relationship Type="http://schemas.openxmlformats.org/officeDocument/2006/relationships/notesSlide" Target="/ppt/notesSlides/notesSlide23.xml" Id="R1b1e03fec72a43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e170a69cb4e6c" /><Relationship Type="http://schemas.openxmlformats.org/officeDocument/2006/relationships/notesSlide" Target="/ppt/notesSlides/notesSlide24.xml" Id="Rce6b0f888c5b46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a997519434410" /><Relationship Type="http://schemas.openxmlformats.org/officeDocument/2006/relationships/notesSlide" Target="/ppt/notesSlides/notesSlide25.xml" Id="R2b679e18feae40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6593073b04fbb" /><Relationship Type="http://schemas.openxmlformats.org/officeDocument/2006/relationships/notesSlide" Target="/ppt/notesSlides/notesSlide26.xml" Id="R4453f9a9e84745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4efcfcd0c4c41" /><Relationship Type="http://schemas.openxmlformats.org/officeDocument/2006/relationships/notesSlide" Target="/ppt/notesSlides/notesSlide27.xml" Id="R339f4ea41a6c4e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33a96749141e8" /><Relationship Type="http://schemas.openxmlformats.org/officeDocument/2006/relationships/notesSlide" Target="/ppt/notesSlides/notesSlide28.xml" Id="R803204b5c2f042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be653bcea441c" /><Relationship Type="http://schemas.openxmlformats.org/officeDocument/2006/relationships/notesSlide" Target="/ppt/notesSlides/notesSlide29.xml" Id="R67eff38699bb4d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d1450bda4de7" /><Relationship Type="http://schemas.openxmlformats.org/officeDocument/2006/relationships/notesSlide" Target="/ppt/notesSlides/notesSlide30.xml" Id="Rc29db0e140ba4d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0">
            <a:extLst xmlns:a="http://schemas.openxmlformats.org/drawingml/2006/main">
              <a:ext uri="{FF2B5EF4-FFF2-40B4-BE49-F238E27FC236}">
                <a16:creationId xmlns:a16="http://schemas.microsoft.com/office/drawing/2014/main" id="{42F1E3FE-53A2-4195-BFDA-D1B5B904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0">
            <a:extLst xmlns:a="http://schemas.openxmlformats.org/drawingml/2006/main">
              <a:ext uri="{FF2B5EF4-FFF2-40B4-BE49-F238E27FC236}">
                <a16:creationId xmlns:a16="http://schemas.microsoft.com/office/drawing/2014/main" id="{43C412D9-05B8-4DE3-9518-1CFB0661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0">
            <a:extLst xmlns:a="http://schemas.openxmlformats.org/drawingml/2006/main">
              <a:ext uri="{FF2B5EF4-FFF2-40B4-BE49-F238E27FC236}">
                <a16:creationId xmlns:a16="http://schemas.microsoft.com/office/drawing/2014/main" id="{6E9086AB-2B08-4999-985C-ABE6093F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0">
            <a:extLst xmlns:a="http://schemas.openxmlformats.org/drawingml/2006/main">
              <a:ext uri="{FF2B5EF4-FFF2-40B4-BE49-F238E27FC236}">
                <a16:creationId xmlns:a16="http://schemas.microsoft.com/office/drawing/2014/main" id="{752C2410-0105-49E1-AC49-CF488E4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0">
            <a:extLst xmlns:a="http://schemas.openxmlformats.org/drawingml/2006/main">
              <a:ext uri="{FF2B5EF4-FFF2-40B4-BE49-F238E27FC236}">
                <a16:creationId xmlns:a16="http://schemas.microsoft.com/office/drawing/2014/main" id="{B8534E55-0F41-4211-BBAD-CB1C059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0">
            <a:extLst xmlns:a="http://schemas.openxmlformats.org/drawingml/2006/main">
              <a:ext uri="{FF2B5EF4-FFF2-40B4-BE49-F238E27FC236}">
                <a16:creationId xmlns:a16="http://schemas.microsoft.com/office/drawing/2014/main" id="{01ABD913-BB8B-4BD0-AFCC-A1E21AC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0">
            <a:extLst xmlns:a="http://schemas.openxmlformats.org/drawingml/2006/main">
              <a:ext uri="{FF2B5EF4-FFF2-40B4-BE49-F238E27FC236}">
                <a16:creationId xmlns:a16="http://schemas.microsoft.com/office/drawing/2014/main" id="{E6A85D5A-5219-4066-A8AC-4183277B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8" name="title.0">
            <a:extLst xmlns:a="http://schemas.openxmlformats.org/drawingml/2006/main">
              <a:ext uri="{FF2B5EF4-FFF2-40B4-BE49-F238E27FC236}">
                <a16:creationId xmlns:a16="http://schemas.microsoft.com/office/drawing/2014/main" id="{DDBC35AF-9864-4D39-B45B-9840CA4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Integral Imperial Intelligence</a:t>
            </a:r>
          </a:p>
        </p:txBody>
      </p:sp>
      <p:sp>
        <p:nvSpPr>
          <p:cNvPr id="9" name="subtitle.0">
            <a:extLst xmlns:a="http://schemas.openxmlformats.org/drawingml/2006/main">
              <a:ext uri="{FF2B5EF4-FFF2-40B4-BE49-F238E27FC236}">
                <a16:creationId xmlns:a16="http://schemas.microsoft.com/office/drawing/2014/main" id="{DA375A92-60B4-47F6-AEDE-2AD8B731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AP Calculus BC Unit 6: Integration and Accumulation of Change</a:t>
            </a:r>
          </a:p>
        </p:txBody>
      </p:sp>
      <p:sp>
        <p:nvSpPr>
          <p:cNvPr id="10" name="formulaCard.0">
            <a:extLst xmlns:a="http://schemas.openxmlformats.org/drawingml/2006/main">
              <a:ext uri="{FF2B5EF4-FFF2-40B4-BE49-F238E27FC236}">
                <a16:creationId xmlns:a16="http://schemas.microsoft.com/office/drawing/2014/main" id="{1E5738AD-018C-45B1-AB72-FF1095D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0">
            <a:extLst xmlns:a="http://schemas.openxmlformats.org/drawingml/2006/main">
              <a:ext uri="{FF2B5EF4-FFF2-40B4-BE49-F238E27FC236}">
                <a16:creationId xmlns:a16="http://schemas.microsoft.com/office/drawing/2014/main" id="{91A0CFD9-F6F8-4A00-94AB-22BAA12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Rate → accumulation → exact change</a:t>
            </a:r>
          </a:p>
        </p:txBody>
      </p:sp>
      <p:sp>
        <p:nvSpPr>
          <p:cNvPr id="12" name="bullets.0">
            <a:extLst xmlns:a="http://schemas.openxmlformats.org/drawingml/2006/main">
              <a:ext uri="{FF2B5EF4-FFF2-40B4-BE49-F238E27FC236}">
                <a16:creationId xmlns:a16="http://schemas.microsoft.com/office/drawing/2014/main" id="{AC93EB48-E1E8-4754-B4D7-741154B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Unit 6 turns rates of change into total change.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game questions are built from this lesson sequence.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project is a Notion website plus a live JavaScript quiz embed.</a:t>
            </a:r>
          </a:p>
        </p:txBody>
      </p:sp>
      <p:sp>
        <p:nvSpPr>
          <p:cNvPr id="13" name="iconCard.0">
            <a:extLst xmlns:a="http://schemas.openxmlformats.org/drawingml/2006/main">
              <a:ext uri="{FF2B5EF4-FFF2-40B4-BE49-F238E27FC236}">
                <a16:creationId xmlns:a16="http://schemas.microsoft.com/office/drawing/2014/main" id="{B6C7EB5A-A671-49D0-B75D-C3FD593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0">
            <a:extLst xmlns:a="http://schemas.openxmlformats.org/drawingml/2006/main">
              <a:ext uri="{FF2B5EF4-FFF2-40B4-BE49-F238E27FC236}">
                <a16:creationId xmlns:a16="http://schemas.microsoft.com/office/drawing/2014/main" id="{9519552A-33EF-4894-9270-82D5ED3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0">
            <a:extLst xmlns:a="http://schemas.openxmlformats.org/drawingml/2006/main">
              <a:ext uri="{FF2B5EF4-FFF2-40B4-BE49-F238E27FC236}">
                <a16:creationId xmlns:a16="http://schemas.microsoft.com/office/drawing/2014/main" id="{553CA3FA-F7AB-4C6B-9DED-C8FBDC4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Castle Launch</a:t>
            </a:r>
          </a:p>
        </p:txBody>
      </p:sp>
      <p:sp>
        <p:nvSpPr>
          <p:cNvPr id="16" name="notes.0">
            <a:extLst xmlns:a="http://schemas.openxmlformats.org/drawingml/2006/main">
              <a:ext uri="{FF2B5EF4-FFF2-40B4-BE49-F238E27FC236}">
                <a16:creationId xmlns:a16="http://schemas.microsoft.com/office/drawing/2014/main" id="{6D8D7C01-F464-4DDD-B541-DBB179E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Open by showing the Notion page, then explain that this slide deck teaches the same concepts tested in the multiplayer quiz.</a:t>
            </a:r>
          </a:p>
        </p:txBody>
      </p:sp>
      <p:sp>
        <p:nvSpPr>
          <p:cNvPr id="17" name="footerLine.0">
            <a:extLst xmlns:a="http://schemas.openxmlformats.org/drawingml/2006/main">
              <a:ext uri="{FF2B5EF4-FFF2-40B4-BE49-F238E27FC236}">
                <a16:creationId xmlns:a16="http://schemas.microsoft.com/office/drawing/2014/main" id="{3D09A3BB-AA17-4367-BC9F-DF86AB8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0">
            <a:extLst xmlns:a="http://schemas.openxmlformats.org/drawingml/2006/main">
              <a:ext uri="{FF2B5EF4-FFF2-40B4-BE49-F238E27FC236}">
                <a16:creationId xmlns:a16="http://schemas.microsoft.com/office/drawing/2014/main" id="{2867A7A0-0FC4-4895-A907-9C328CF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0">
            <a:extLst xmlns:a="http://schemas.openxmlformats.org/drawingml/2006/main">
              <a:ext uri="{FF2B5EF4-FFF2-40B4-BE49-F238E27FC236}">
                <a16:creationId xmlns:a16="http://schemas.microsoft.com/office/drawing/2014/main" id="{5B56B0FD-CB7C-42C3-A80A-9FEBCC3D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1/30</a:t>
            </a:r>
          </a:p>
        </p:txBody>
      </p:sp>
    </p:spTree>
    <p:extLst>
      <p:ext uri="{BB962C8B-B14F-4D97-AF65-F5344CB8AC3E}">
        <p14:creationId xmlns:p14="http://schemas.microsoft.com/office/powerpoint/2010/main" val="173317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">
            <a:extLst xmlns:a="http://schemas.openxmlformats.org/drawingml/2006/main">
              <a:ext uri="{FF2B5EF4-FFF2-40B4-BE49-F238E27FC236}">
                <a16:creationId xmlns:a16="http://schemas.microsoft.com/office/drawing/2014/main" id="{453B4976-4C91-4256-A51E-B86B88F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">
            <a:extLst xmlns:a="http://schemas.openxmlformats.org/drawingml/2006/main">
              <a:ext uri="{FF2B5EF4-FFF2-40B4-BE49-F238E27FC236}">
                <a16:creationId xmlns:a16="http://schemas.microsoft.com/office/drawing/2014/main" id="{70455D6E-8495-4EAD-80A6-72966998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1">
            <a:extLst xmlns:a="http://schemas.openxmlformats.org/drawingml/2006/main">
              <a:ext uri="{FF2B5EF4-FFF2-40B4-BE49-F238E27FC236}">
                <a16:creationId xmlns:a16="http://schemas.microsoft.com/office/drawing/2014/main" id="{1E329EDF-3AB2-424D-9632-F655B35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">
            <a:extLst xmlns:a="http://schemas.openxmlformats.org/drawingml/2006/main">
              <a:ext uri="{FF2B5EF4-FFF2-40B4-BE49-F238E27FC236}">
                <a16:creationId xmlns:a16="http://schemas.microsoft.com/office/drawing/2014/main" id="{6F753464-D311-4F7C-8D75-99EEBDC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">
            <a:extLst xmlns:a="http://schemas.openxmlformats.org/drawingml/2006/main">
              <a:ext uri="{FF2B5EF4-FFF2-40B4-BE49-F238E27FC236}">
                <a16:creationId xmlns:a16="http://schemas.microsoft.com/office/drawing/2014/main" id="{A0FEED23-35B7-4191-9802-4AF3726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">
            <a:extLst xmlns:a="http://schemas.openxmlformats.org/drawingml/2006/main">
              <a:ext uri="{FF2B5EF4-FFF2-40B4-BE49-F238E27FC236}">
                <a16:creationId xmlns:a16="http://schemas.microsoft.com/office/drawing/2014/main" id="{ABED5565-E27B-4797-939D-04924B0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">
            <a:extLst xmlns:a="http://schemas.openxmlformats.org/drawingml/2006/main">
              <a:ext uri="{FF2B5EF4-FFF2-40B4-BE49-F238E27FC236}">
                <a16:creationId xmlns:a16="http://schemas.microsoft.com/office/drawing/2014/main" id="{5EE25D42-B6E6-4CF7-8510-66C73ED3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8" name="title.1">
            <a:extLst xmlns:a="http://schemas.openxmlformats.org/drawingml/2006/main">
              <a:ext uri="{FF2B5EF4-FFF2-40B4-BE49-F238E27FC236}">
                <a16:creationId xmlns:a16="http://schemas.microsoft.com/office/drawing/2014/main" id="{2ACFF204-1110-43EB-8A92-C221934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What Unit 6 Is Really About</a:t>
            </a:r>
          </a:p>
        </p:txBody>
      </p:sp>
      <p:sp>
        <p:nvSpPr>
          <p:cNvPr id="9" name="subtitle.1">
            <a:extLst xmlns:a="http://schemas.openxmlformats.org/drawingml/2006/main">
              <a:ext uri="{FF2B5EF4-FFF2-40B4-BE49-F238E27FC236}">
                <a16:creationId xmlns:a16="http://schemas.microsoft.com/office/drawing/2014/main" id="{2654E25E-5581-4D9A-B14F-30BA7FE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big idea is accumulation.</a:t>
            </a:r>
          </a:p>
        </p:txBody>
      </p:sp>
      <p:sp>
        <p:nvSpPr>
          <p:cNvPr id="10" name="formulaCard.1">
            <a:extLst xmlns:a="http://schemas.openxmlformats.org/drawingml/2006/main">
              <a:ext uri="{FF2B5EF4-FFF2-40B4-BE49-F238E27FC236}">
                <a16:creationId xmlns:a16="http://schemas.microsoft.com/office/drawing/2014/main" id="{D072F9E5-E4F1-4962-8F33-7729F45E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">
            <a:extLst xmlns:a="http://schemas.openxmlformats.org/drawingml/2006/main">
              <a:ext uri="{FF2B5EF4-FFF2-40B4-BE49-F238E27FC236}">
                <a16:creationId xmlns:a16="http://schemas.microsoft.com/office/drawing/2014/main" id="{5B53C924-877F-48C5-8924-40F1B979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 rate dx = accumulated change</a:t>
            </a:r>
          </a:p>
        </p:txBody>
      </p:sp>
      <p:sp>
        <p:nvSpPr>
          <p:cNvPr id="12" name="bullets.1">
            <a:extLst xmlns:a="http://schemas.openxmlformats.org/drawingml/2006/main">
              <a:ext uri="{FF2B5EF4-FFF2-40B4-BE49-F238E27FC236}">
                <a16:creationId xmlns:a16="http://schemas.microsoft.com/office/drawing/2014/main" id="{A7D53E81-FDE4-4D9E-BB99-882A690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Estimate accumulation with rectangles and trapezoids.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Represent exact accumulation with definite integrals.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Use the Fundamental Theorem of Calculus to connect derivatives and integrals.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Choose antiderivative techniques when integrals are not basic.</a:t>
            </a:r>
          </a:p>
        </p:txBody>
      </p:sp>
      <p:sp>
        <p:nvSpPr>
          <p:cNvPr id="13" name="iconCard.1">
            <a:extLst xmlns:a="http://schemas.openxmlformats.org/drawingml/2006/main">
              <a:ext uri="{FF2B5EF4-FFF2-40B4-BE49-F238E27FC236}">
                <a16:creationId xmlns:a16="http://schemas.microsoft.com/office/drawing/2014/main" id="{7C6C156D-4705-4F03-9FEF-F82679B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">
            <a:extLst xmlns:a="http://schemas.openxmlformats.org/drawingml/2006/main">
              <a:ext uri="{FF2B5EF4-FFF2-40B4-BE49-F238E27FC236}">
                <a16:creationId xmlns:a16="http://schemas.microsoft.com/office/drawing/2014/main" id="{476CB4C1-396F-470B-BC23-AA89E97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1">
            <a:extLst xmlns:a="http://schemas.openxmlformats.org/drawingml/2006/main">
              <a:ext uri="{FF2B5EF4-FFF2-40B4-BE49-F238E27FC236}">
                <a16:creationId xmlns:a16="http://schemas.microsoft.com/office/drawing/2014/main" id="{48952770-0C83-41E9-ACFD-6286EDC6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Park Map</a:t>
            </a:r>
          </a:p>
        </p:txBody>
      </p:sp>
      <p:sp>
        <p:nvSpPr>
          <p:cNvPr id="16" name="notes.1">
            <a:extLst xmlns:a="http://schemas.openxmlformats.org/drawingml/2006/main">
              <a:ext uri="{FF2B5EF4-FFF2-40B4-BE49-F238E27FC236}">
                <a16:creationId xmlns:a16="http://schemas.microsoft.com/office/drawing/2014/main" id="{908ED15F-2C6C-481F-809C-BC1B9EB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mirrors College Board's Unit 6 outline: definite integrals, Riemann sums, accumulation functions, FTC, antiderivatives, techniques, and improper integrals.</a:t>
            </a:r>
          </a:p>
        </p:txBody>
      </p:sp>
      <p:sp>
        <p:nvSpPr>
          <p:cNvPr id="17" name="footerLine.1">
            <a:extLst xmlns:a="http://schemas.openxmlformats.org/drawingml/2006/main">
              <a:ext uri="{FF2B5EF4-FFF2-40B4-BE49-F238E27FC236}">
                <a16:creationId xmlns:a16="http://schemas.microsoft.com/office/drawing/2014/main" id="{8AD48F41-1F66-43ED-A60D-4A18808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1">
            <a:extLst xmlns:a="http://schemas.openxmlformats.org/drawingml/2006/main">
              <a:ext uri="{FF2B5EF4-FFF2-40B4-BE49-F238E27FC236}">
                <a16:creationId xmlns:a16="http://schemas.microsoft.com/office/drawing/2014/main" id="{1FAEC2D4-ACAE-497A-B051-EB3AB43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1">
            <a:extLst xmlns:a="http://schemas.openxmlformats.org/drawingml/2006/main">
              <a:ext uri="{FF2B5EF4-FFF2-40B4-BE49-F238E27FC236}">
                <a16:creationId xmlns:a16="http://schemas.microsoft.com/office/drawing/2014/main" id="{819B9125-F193-4EC3-BA8E-51EDEAD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2/30</a:t>
            </a:r>
          </a:p>
        </p:txBody>
      </p:sp>
    </p:spTree>
    <p:extLst>
      <p:ext uri="{BB962C8B-B14F-4D97-AF65-F5344CB8AC3E}">
        <p14:creationId xmlns:p14="http://schemas.microsoft.com/office/powerpoint/2010/main" val="958139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">
            <a:extLst xmlns:a="http://schemas.openxmlformats.org/drawingml/2006/main">
              <a:ext uri="{FF2B5EF4-FFF2-40B4-BE49-F238E27FC236}">
                <a16:creationId xmlns:a16="http://schemas.microsoft.com/office/drawing/2014/main" id="{E24B85A7-897E-46F6-A833-2D1D95AE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">
            <a:extLst xmlns:a="http://schemas.openxmlformats.org/drawingml/2006/main">
              <a:ext uri="{FF2B5EF4-FFF2-40B4-BE49-F238E27FC236}">
                <a16:creationId xmlns:a16="http://schemas.microsoft.com/office/drawing/2014/main" id="{17EFB529-D129-4E25-9C4D-5F5E0BB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2">
            <a:extLst xmlns:a="http://schemas.openxmlformats.org/drawingml/2006/main">
              <a:ext uri="{FF2B5EF4-FFF2-40B4-BE49-F238E27FC236}">
                <a16:creationId xmlns:a16="http://schemas.microsoft.com/office/drawing/2014/main" id="{85D1F2E6-EB60-4A44-A741-E0475C4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">
            <a:extLst xmlns:a="http://schemas.openxmlformats.org/drawingml/2006/main">
              <a:ext uri="{FF2B5EF4-FFF2-40B4-BE49-F238E27FC236}">
                <a16:creationId xmlns:a16="http://schemas.microsoft.com/office/drawing/2014/main" id="{EEAC7541-5786-4A75-B84B-9DA9EBE1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">
            <a:extLst xmlns:a="http://schemas.openxmlformats.org/drawingml/2006/main">
              <a:ext uri="{FF2B5EF4-FFF2-40B4-BE49-F238E27FC236}">
                <a16:creationId xmlns:a16="http://schemas.microsoft.com/office/drawing/2014/main" id="{79AECFA4-9CEE-4287-8F83-348CC59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">
            <a:extLst xmlns:a="http://schemas.openxmlformats.org/drawingml/2006/main">
              <a:ext uri="{FF2B5EF4-FFF2-40B4-BE49-F238E27FC236}">
                <a16:creationId xmlns:a16="http://schemas.microsoft.com/office/drawing/2014/main" id="{204736F0-43E4-4573-898D-16027B7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">
            <a:extLst xmlns:a="http://schemas.openxmlformats.org/drawingml/2006/main">
              <a:ext uri="{FF2B5EF4-FFF2-40B4-BE49-F238E27FC236}">
                <a16:creationId xmlns:a16="http://schemas.microsoft.com/office/drawing/2014/main" id="{49DB48DA-5193-4F29-BF22-0D3DC472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8" name="title.2">
            <a:extLst xmlns:a="http://schemas.openxmlformats.org/drawingml/2006/main">
              <a:ext uri="{FF2B5EF4-FFF2-40B4-BE49-F238E27FC236}">
                <a16:creationId xmlns:a16="http://schemas.microsoft.com/office/drawing/2014/main" id="{68E775AB-F6FF-4F59-93AD-20BE64A3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Integration Reverses the Question</a:t>
            </a:r>
          </a:p>
        </p:txBody>
      </p:sp>
      <p:sp>
        <p:nvSpPr>
          <p:cNvPr id="9" name="subtitle.2">
            <a:extLst xmlns:a="http://schemas.openxmlformats.org/drawingml/2006/main">
              <a:ext uri="{FF2B5EF4-FFF2-40B4-BE49-F238E27FC236}">
                <a16:creationId xmlns:a16="http://schemas.microsoft.com/office/drawing/2014/main" id="{83104666-6CD0-4CB2-8C10-E74AAAA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Differentiation asks for an instant; integration asks for the total.</a:t>
            </a:r>
          </a:p>
        </p:txBody>
      </p:sp>
      <p:sp>
        <p:nvSpPr>
          <p:cNvPr id="10" name="formulaCard.2">
            <a:extLst xmlns:a="http://schemas.openxmlformats.org/drawingml/2006/main">
              <a:ext uri="{FF2B5EF4-FFF2-40B4-BE49-F238E27FC236}">
                <a16:creationId xmlns:a16="http://schemas.microsoft.com/office/drawing/2014/main" id="{741A7F62-B364-49E3-819E-DA44984D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">
            <a:extLst xmlns:a="http://schemas.openxmlformats.org/drawingml/2006/main">
              <a:ext uri="{FF2B5EF4-FFF2-40B4-BE49-F238E27FC236}">
                <a16:creationId xmlns:a16="http://schemas.microsoft.com/office/drawing/2014/main" id="{5A2656A6-D558-4E1F-8004-A9B6869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If v(t) is velocity, then ∫ v(t)dt is displacement.</a:t>
            </a:r>
          </a:p>
        </p:txBody>
      </p:sp>
      <p:sp>
        <p:nvSpPr>
          <p:cNvPr id="12" name="bullets.2">
            <a:extLst xmlns:a="http://schemas.openxmlformats.org/drawingml/2006/main">
              <a:ext uri="{FF2B5EF4-FFF2-40B4-BE49-F238E27FC236}">
                <a16:creationId xmlns:a16="http://schemas.microsoft.com/office/drawing/2014/main" id="{780A89F6-EB9C-4E95-AB94-975EFEB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 derivative tells how fast something is changing.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An integral gathers those tiny changes over an interval.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Positive area adds; negative area subtracts.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Units multiply: rate units times input units.</a:t>
            </a:r>
          </a:p>
        </p:txBody>
      </p:sp>
      <p:sp>
        <p:nvSpPr>
          <p:cNvPr id="13" name="iconCard.2">
            <a:extLst xmlns:a="http://schemas.openxmlformats.org/drawingml/2006/main">
              <a:ext uri="{FF2B5EF4-FFF2-40B4-BE49-F238E27FC236}">
                <a16:creationId xmlns:a16="http://schemas.microsoft.com/office/drawing/2014/main" id="{35E362E9-1F5A-4BF9-8446-0734BC3D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">
            <a:extLst xmlns:a="http://schemas.openxmlformats.org/drawingml/2006/main">
              <a:ext uri="{FF2B5EF4-FFF2-40B4-BE49-F238E27FC236}">
                <a16:creationId xmlns:a16="http://schemas.microsoft.com/office/drawing/2014/main" id="{98905C91-1020-4090-AAB2-7F3E9EA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2">
            <a:extLst xmlns:a="http://schemas.openxmlformats.org/drawingml/2006/main">
              <a:ext uri="{FF2B5EF4-FFF2-40B4-BE49-F238E27FC236}">
                <a16:creationId xmlns:a16="http://schemas.microsoft.com/office/drawing/2014/main" id="{CC860A25-1A1F-46A1-9AE4-3A1A07A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Monorail Route</a:t>
            </a:r>
          </a:p>
        </p:txBody>
      </p:sp>
      <p:sp>
        <p:nvSpPr>
          <p:cNvPr id="16" name="notes.2">
            <a:extLst xmlns:a="http://schemas.openxmlformats.org/drawingml/2006/main">
              <a:ext uri="{FF2B5EF4-FFF2-40B4-BE49-F238E27FC236}">
                <a16:creationId xmlns:a16="http://schemas.microsoft.com/office/drawing/2014/main" id="{902663F5-0E33-4AAA-A401-86F6E4F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a motion example: miles/hour times hours gives miles. This makes the integral feel less abstract.</a:t>
            </a:r>
          </a:p>
        </p:txBody>
      </p:sp>
      <p:sp>
        <p:nvSpPr>
          <p:cNvPr id="17" name="footerLine.2">
            <a:extLst xmlns:a="http://schemas.openxmlformats.org/drawingml/2006/main">
              <a:ext uri="{FF2B5EF4-FFF2-40B4-BE49-F238E27FC236}">
                <a16:creationId xmlns:a16="http://schemas.microsoft.com/office/drawing/2014/main" id="{A206665C-8E1B-40D7-8041-968AA5F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">
            <a:extLst xmlns:a="http://schemas.openxmlformats.org/drawingml/2006/main">
              <a:ext uri="{FF2B5EF4-FFF2-40B4-BE49-F238E27FC236}">
                <a16:creationId xmlns:a16="http://schemas.microsoft.com/office/drawing/2014/main" id="{9BA6CB2A-B66C-4F63-BF65-F900D962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">
            <a:extLst xmlns:a="http://schemas.openxmlformats.org/drawingml/2006/main">
              <a:ext uri="{FF2B5EF4-FFF2-40B4-BE49-F238E27FC236}">
                <a16:creationId xmlns:a16="http://schemas.microsoft.com/office/drawing/2014/main" id="{5C4CEC57-F0B4-4EA1-92CC-DAD99261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3/30</a:t>
            </a:r>
          </a:p>
        </p:txBody>
      </p:sp>
    </p:spTree>
    <p:extLst>
      <p:ext uri="{BB962C8B-B14F-4D97-AF65-F5344CB8AC3E}">
        <p14:creationId xmlns:p14="http://schemas.microsoft.com/office/powerpoint/2010/main" val="22348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3">
            <a:extLst xmlns:a="http://schemas.openxmlformats.org/drawingml/2006/main">
              <a:ext uri="{FF2B5EF4-FFF2-40B4-BE49-F238E27FC236}">
                <a16:creationId xmlns:a16="http://schemas.microsoft.com/office/drawing/2014/main" id="{F4D0C82A-6285-4542-96F2-BCC8100C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3">
            <a:extLst xmlns:a="http://schemas.openxmlformats.org/drawingml/2006/main">
              <a:ext uri="{FF2B5EF4-FFF2-40B4-BE49-F238E27FC236}">
                <a16:creationId xmlns:a16="http://schemas.microsoft.com/office/drawing/2014/main" id="{F6EE8274-F55A-456B-9191-34DC740B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3">
            <a:extLst xmlns:a="http://schemas.openxmlformats.org/drawingml/2006/main">
              <a:ext uri="{FF2B5EF4-FFF2-40B4-BE49-F238E27FC236}">
                <a16:creationId xmlns:a16="http://schemas.microsoft.com/office/drawing/2014/main" id="{865EF08F-12F8-491E-9AC8-D5D966F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3">
            <a:extLst xmlns:a="http://schemas.openxmlformats.org/drawingml/2006/main">
              <a:ext uri="{FF2B5EF4-FFF2-40B4-BE49-F238E27FC236}">
                <a16:creationId xmlns:a16="http://schemas.microsoft.com/office/drawing/2014/main" id="{BF069804-7C90-49A7-B090-1D173A4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3">
            <a:extLst xmlns:a="http://schemas.openxmlformats.org/drawingml/2006/main">
              <a:ext uri="{FF2B5EF4-FFF2-40B4-BE49-F238E27FC236}">
                <a16:creationId xmlns:a16="http://schemas.microsoft.com/office/drawing/2014/main" id="{6F943C14-DCFE-4724-A645-2C53CB8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3">
            <a:extLst xmlns:a="http://schemas.openxmlformats.org/drawingml/2006/main">
              <a:ext uri="{FF2B5EF4-FFF2-40B4-BE49-F238E27FC236}">
                <a16:creationId xmlns:a16="http://schemas.microsoft.com/office/drawing/2014/main" id="{D7D143A8-B86C-4E56-8EBE-4B8B4863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3">
            <a:extLst xmlns:a="http://schemas.openxmlformats.org/drawingml/2006/main">
              <a:ext uri="{FF2B5EF4-FFF2-40B4-BE49-F238E27FC236}">
                <a16:creationId xmlns:a16="http://schemas.microsoft.com/office/drawing/2014/main" id="{3E2E1867-F14F-4FA1-AF70-D4D330F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ACCUMULATION</a:t>
            </a:r>
          </a:p>
        </p:txBody>
      </p:sp>
      <p:sp>
        <p:nvSpPr>
          <p:cNvPr id="8" name="title.3">
            <a:extLst xmlns:a="http://schemas.openxmlformats.org/drawingml/2006/main">
              <a:ext uri="{FF2B5EF4-FFF2-40B4-BE49-F238E27FC236}">
                <a16:creationId xmlns:a16="http://schemas.microsoft.com/office/drawing/2014/main" id="{B5A0195A-322E-4D23-8F78-59469DE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Accumulated Change</a:t>
            </a:r>
          </a:p>
        </p:txBody>
      </p:sp>
      <p:sp>
        <p:nvSpPr>
          <p:cNvPr id="9" name="subtitle.3">
            <a:extLst xmlns:a="http://schemas.openxmlformats.org/drawingml/2006/main">
              <a:ext uri="{FF2B5EF4-FFF2-40B4-BE49-F238E27FC236}">
                <a16:creationId xmlns:a16="http://schemas.microsoft.com/office/drawing/2014/main" id="{239A6685-6AFD-44D4-B43A-D0AAE64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When a rate is known, the integral gives the total change.</a:t>
            </a:r>
          </a:p>
        </p:txBody>
      </p:sp>
      <p:sp>
        <p:nvSpPr>
          <p:cNvPr id="10" name="formulaCard.3">
            <a:extLst xmlns:a="http://schemas.openxmlformats.org/drawingml/2006/main">
              <a:ext uri="{FF2B5EF4-FFF2-40B4-BE49-F238E27FC236}">
                <a16:creationId xmlns:a16="http://schemas.microsoft.com/office/drawing/2014/main" id="{1D593284-AD5E-40AC-B458-2193AD25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3">
            <a:extLst xmlns:a="http://schemas.openxmlformats.org/drawingml/2006/main">
              <a:ext uri="{FF2B5EF4-FFF2-40B4-BE49-F238E27FC236}">
                <a16:creationId xmlns:a16="http://schemas.microsoft.com/office/drawing/2014/main" id="{4DD213BC-D4D9-4F83-9BD3-96FFF68D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Total change = ∫_a^b r(t) dt</a:t>
            </a:r>
          </a:p>
        </p:txBody>
      </p:sp>
      <p:sp>
        <p:nvSpPr>
          <p:cNvPr id="12" name="bullets.3">
            <a:extLst xmlns:a="http://schemas.openxmlformats.org/drawingml/2006/main">
              <a:ext uri="{FF2B5EF4-FFF2-40B4-BE49-F238E27FC236}">
                <a16:creationId xmlns:a16="http://schemas.microsoft.com/office/drawing/2014/main" id="{AFB6F0E8-E013-4777-A527-8104FB0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function inside the integral is usually a rate.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interval tells when the accumulation starts and stops.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answer is not a rate anymore; it is a total amount.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Always check units in word problems.</a:t>
            </a:r>
          </a:p>
        </p:txBody>
      </p:sp>
      <p:sp>
        <p:nvSpPr>
          <p:cNvPr id="13" name="iconCard.3">
            <a:extLst xmlns:a="http://schemas.openxmlformats.org/drawingml/2006/main">
              <a:ext uri="{FF2B5EF4-FFF2-40B4-BE49-F238E27FC236}">
                <a16:creationId xmlns:a16="http://schemas.microsoft.com/office/drawing/2014/main" id="{1F651CE5-1F21-477F-85D7-36FF3985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3">
            <a:extLst xmlns:a="http://schemas.openxmlformats.org/drawingml/2006/main">
              <a:ext uri="{FF2B5EF4-FFF2-40B4-BE49-F238E27FC236}">
                <a16:creationId xmlns:a16="http://schemas.microsoft.com/office/drawing/2014/main" id="{5B789D56-56B8-4213-B1BF-C12C865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3">
            <a:extLst xmlns:a="http://schemas.openxmlformats.org/drawingml/2006/main">
              <a:ext uri="{FF2B5EF4-FFF2-40B4-BE49-F238E27FC236}">
                <a16:creationId xmlns:a16="http://schemas.microsoft.com/office/drawing/2014/main" id="{F6D2A29E-93BA-4B07-93DD-9B1EC2B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Frozen Snowfall</a:t>
            </a:r>
          </a:p>
        </p:txBody>
      </p:sp>
      <p:sp>
        <p:nvSpPr>
          <p:cNvPr id="16" name="exampleCard.3">
            <a:extLst xmlns:a="http://schemas.openxmlformats.org/drawingml/2006/main">
              <a:ext uri="{FF2B5EF4-FFF2-40B4-BE49-F238E27FC236}">
                <a16:creationId xmlns:a16="http://schemas.microsoft.com/office/drawing/2014/main" id="{2AD08BF6-B88D-4367-84D1-C43ECDF5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3">
            <a:extLst xmlns:a="http://schemas.openxmlformats.org/drawingml/2006/main">
              <a:ext uri="{FF2B5EF4-FFF2-40B4-BE49-F238E27FC236}">
                <a16:creationId xmlns:a16="http://schemas.microsoft.com/office/drawing/2014/main" id="{1638AC5A-F260-4995-9E60-569F3EE2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If r(t)=3t^2 inches/hour, then ∫_0^2 3t^2dt=8 inches.</a:t>
            </a:r>
          </a:p>
        </p:txBody>
      </p:sp>
      <p:sp>
        <p:nvSpPr>
          <p:cNvPr id="18" name="notes.3">
            <a:extLst xmlns:a="http://schemas.openxmlformats.org/drawingml/2006/main">
              <a:ext uri="{FF2B5EF4-FFF2-40B4-BE49-F238E27FC236}">
                <a16:creationId xmlns:a16="http://schemas.microsoft.com/office/drawing/2014/main" id="{87E014D0-7B44-4A61-A62C-0D4BA09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Connect this to the Frozen Accumulation Vault question in the game.</a:t>
            </a:r>
          </a:p>
        </p:txBody>
      </p:sp>
      <p:sp>
        <p:nvSpPr>
          <p:cNvPr id="19" name="footerLine.3">
            <a:extLst xmlns:a="http://schemas.openxmlformats.org/drawingml/2006/main">
              <a:ext uri="{FF2B5EF4-FFF2-40B4-BE49-F238E27FC236}">
                <a16:creationId xmlns:a16="http://schemas.microsoft.com/office/drawing/2014/main" id="{4E78E057-35B0-4FAC-BB7E-A59C251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3">
            <a:extLst xmlns:a="http://schemas.openxmlformats.org/drawingml/2006/main">
              <a:ext uri="{FF2B5EF4-FFF2-40B4-BE49-F238E27FC236}">
                <a16:creationId xmlns:a16="http://schemas.microsoft.com/office/drawing/2014/main" id="{7F4399F2-295C-4295-8DB9-3668A50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3">
            <a:extLst xmlns:a="http://schemas.openxmlformats.org/drawingml/2006/main">
              <a:ext uri="{FF2B5EF4-FFF2-40B4-BE49-F238E27FC236}">
                <a16:creationId xmlns:a16="http://schemas.microsoft.com/office/drawing/2014/main" id="{2AC31D6D-3A9F-4425-B40E-DD96FBF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4/30</a:t>
            </a:r>
          </a:p>
        </p:txBody>
      </p:sp>
    </p:spTree>
    <p:extLst>
      <p:ext uri="{BB962C8B-B14F-4D97-AF65-F5344CB8AC3E}">
        <p14:creationId xmlns:p14="http://schemas.microsoft.com/office/powerpoint/2010/main" val="11826475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4">
            <a:extLst xmlns:a="http://schemas.openxmlformats.org/drawingml/2006/main">
              <a:ext uri="{FF2B5EF4-FFF2-40B4-BE49-F238E27FC236}">
                <a16:creationId xmlns:a16="http://schemas.microsoft.com/office/drawing/2014/main" id="{1D197ADE-095C-4E89-8D19-5122DDD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4">
            <a:extLst xmlns:a="http://schemas.openxmlformats.org/drawingml/2006/main">
              <a:ext uri="{FF2B5EF4-FFF2-40B4-BE49-F238E27FC236}">
                <a16:creationId xmlns:a16="http://schemas.microsoft.com/office/drawing/2014/main" id="{B0793CCC-9733-41FC-9D10-58A0ACD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4">
            <a:extLst xmlns:a="http://schemas.openxmlformats.org/drawingml/2006/main">
              <a:ext uri="{FF2B5EF4-FFF2-40B4-BE49-F238E27FC236}">
                <a16:creationId xmlns:a16="http://schemas.microsoft.com/office/drawing/2014/main" id="{E7693197-C870-48A2-9547-5B9B01ED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4">
            <a:extLst xmlns:a="http://schemas.openxmlformats.org/drawingml/2006/main">
              <a:ext uri="{FF2B5EF4-FFF2-40B4-BE49-F238E27FC236}">
                <a16:creationId xmlns:a16="http://schemas.microsoft.com/office/drawing/2014/main" id="{4F8CEA72-954C-465C-A456-2AC3CB44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4">
            <a:extLst xmlns:a="http://schemas.openxmlformats.org/drawingml/2006/main">
              <a:ext uri="{FF2B5EF4-FFF2-40B4-BE49-F238E27FC236}">
                <a16:creationId xmlns:a16="http://schemas.microsoft.com/office/drawing/2014/main" id="{D1C4C6B8-E04D-4471-AA41-6FA38FC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4">
            <a:extLst xmlns:a="http://schemas.openxmlformats.org/drawingml/2006/main">
              <a:ext uri="{FF2B5EF4-FFF2-40B4-BE49-F238E27FC236}">
                <a16:creationId xmlns:a16="http://schemas.microsoft.com/office/drawing/2014/main" id="{5BA472F6-76D9-449C-8E99-9F810B8C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4">
            <a:extLst xmlns:a="http://schemas.openxmlformats.org/drawingml/2006/main">
              <a:ext uri="{FF2B5EF4-FFF2-40B4-BE49-F238E27FC236}">
                <a16:creationId xmlns:a16="http://schemas.microsoft.com/office/drawing/2014/main" id="{0D64B446-9BB5-48E5-AEFB-F6965FDC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APPROXIMATION</a:t>
            </a:r>
          </a:p>
        </p:txBody>
      </p:sp>
      <p:sp>
        <p:nvSpPr>
          <p:cNvPr id="8" name="title.4">
            <a:extLst xmlns:a="http://schemas.openxmlformats.org/drawingml/2006/main">
              <a:ext uri="{FF2B5EF4-FFF2-40B4-BE49-F238E27FC236}">
                <a16:creationId xmlns:a16="http://schemas.microsoft.com/office/drawing/2014/main" id="{45800EEE-3401-4881-A6E7-29FB0B26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Left, Right, and Midpoint Sums</a:t>
            </a:r>
          </a:p>
        </p:txBody>
      </p:sp>
      <p:sp>
        <p:nvSpPr>
          <p:cNvPr id="9" name="subtitle.4">
            <a:extLst xmlns:a="http://schemas.openxmlformats.org/drawingml/2006/main">
              <a:ext uri="{FF2B5EF4-FFF2-40B4-BE49-F238E27FC236}">
                <a16:creationId xmlns:a16="http://schemas.microsoft.com/office/drawing/2014/main" id="{5F85BFD8-E54D-4D69-A554-872D3EC8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Rectangles estimate area before exact integrals are available.</a:t>
            </a:r>
          </a:p>
        </p:txBody>
      </p:sp>
      <p:sp>
        <p:nvSpPr>
          <p:cNvPr id="10" name="formulaCard.4">
            <a:extLst xmlns:a="http://schemas.openxmlformats.org/drawingml/2006/main">
              <a:ext uri="{FF2B5EF4-FFF2-40B4-BE49-F238E27FC236}">
                <a16:creationId xmlns:a16="http://schemas.microsoft.com/office/drawing/2014/main" id="{546138A7-01D0-4690-9FEE-61FA204A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4">
            <a:extLst xmlns:a="http://schemas.openxmlformats.org/drawingml/2006/main">
              <a:ext uri="{FF2B5EF4-FFF2-40B4-BE49-F238E27FC236}">
                <a16:creationId xmlns:a16="http://schemas.microsoft.com/office/drawing/2014/main" id="{D29024C8-7857-4F5B-A72B-38987119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Σ f(x_i*) Δx</a:t>
            </a:r>
          </a:p>
        </p:txBody>
      </p:sp>
      <p:sp>
        <p:nvSpPr>
          <p:cNvPr id="12" name="bullets.4">
            <a:extLst xmlns:a="http://schemas.openxmlformats.org/drawingml/2006/main">
              <a:ext uri="{FF2B5EF4-FFF2-40B4-BE49-F238E27FC236}">
                <a16:creationId xmlns:a16="http://schemas.microsoft.com/office/drawing/2014/main" id="{0CEB5DFF-55C0-4AE5-9377-82B78651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Left sums use the left endpoint of each subinterval.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Right sums use the right endpoint.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Midpoint sums use the center of each subinterval.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For increasing functions, left sums underestimate and right sums overestimate.</a:t>
            </a:r>
          </a:p>
        </p:txBody>
      </p:sp>
      <p:sp>
        <p:nvSpPr>
          <p:cNvPr id="13" name="iconCard.4">
            <a:extLst xmlns:a="http://schemas.openxmlformats.org/drawingml/2006/main">
              <a:ext uri="{FF2B5EF4-FFF2-40B4-BE49-F238E27FC236}">
                <a16:creationId xmlns:a16="http://schemas.microsoft.com/office/drawing/2014/main" id="{67E29837-DE07-477C-B1E7-1C70ED2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4">
            <a:extLst xmlns:a="http://schemas.openxmlformats.org/drawingml/2006/main">
              <a:ext uri="{FF2B5EF4-FFF2-40B4-BE49-F238E27FC236}">
                <a16:creationId xmlns:a16="http://schemas.microsoft.com/office/drawing/2014/main" id="{50799026-D2A5-4CB2-8D09-0CC458DC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📐</a:t>
            </a:r>
          </a:p>
        </p:txBody>
      </p:sp>
      <p:sp>
        <p:nvSpPr>
          <p:cNvPr id="15" name="theme.4">
            <a:extLst xmlns:a="http://schemas.openxmlformats.org/drawingml/2006/main">
              <a:ext uri="{FF2B5EF4-FFF2-40B4-BE49-F238E27FC236}">
                <a16:creationId xmlns:a16="http://schemas.microsoft.com/office/drawing/2014/main" id="{85B5AB34-8FB1-4D06-AA34-2D687A3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Street Parade</a:t>
            </a:r>
          </a:p>
        </p:txBody>
      </p:sp>
      <p:sp>
        <p:nvSpPr>
          <p:cNvPr id="16" name="exampleCard.4">
            <a:extLst xmlns:a="http://schemas.openxmlformats.org/drawingml/2006/main">
              <a:ext uri="{FF2B5EF4-FFF2-40B4-BE49-F238E27FC236}">
                <a16:creationId xmlns:a16="http://schemas.microsoft.com/office/drawing/2014/main" id="{44DD1A61-ECB9-4E8B-A234-C002E74C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4">
            <a:extLst xmlns:a="http://schemas.openxmlformats.org/drawingml/2006/main">
              <a:ext uri="{FF2B5EF4-FFF2-40B4-BE49-F238E27FC236}">
                <a16:creationId xmlns:a16="http://schemas.microsoft.com/office/drawing/2014/main" id="{0220CB00-AF23-40D6-A9C2-EC36ED22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Left sum on [0,3] with Δx=1 uses f(0)+f(1)+f(2).</a:t>
            </a:r>
          </a:p>
        </p:txBody>
      </p:sp>
      <p:sp>
        <p:nvSpPr>
          <p:cNvPr id="18" name="notes.4">
            <a:extLst xmlns:a="http://schemas.openxmlformats.org/drawingml/2006/main">
              <a:ext uri="{FF2B5EF4-FFF2-40B4-BE49-F238E27FC236}">
                <a16:creationId xmlns:a16="http://schemas.microsoft.com/office/drawing/2014/main" id="{8F81E5DF-A88E-4A6E-889F-1E3E2405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Have students identify which x-values are used before doing arithmetic.</a:t>
            </a:r>
          </a:p>
        </p:txBody>
      </p:sp>
      <p:sp>
        <p:nvSpPr>
          <p:cNvPr id="19" name="footerLine.4">
            <a:extLst xmlns:a="http://schemas.openxmlformats.org/drawingml/2006/main">
              <a:ext uri="{FF2B5EF4-FFF2-40B4-BE49-F238E27FC236}">
                <a16:creationId xmlns:a16="http://schemas.microsoft.com/office/drawing/2014/main" id="{6CF31BFA-C614-42C6-AE57-FEC3B1CB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4">
            <a:extLst xmlns:a="http://schemas.openxmlformats.org/drawingml/2006/main">
              <a:ext uri="{FF2B5EF4-FFF2-40B4-BE49-F238E27FC236}">
                <a16:creationId xmlns:a16="http://schemas.microsoft.com/office/drawing/2014/main" id="{91103AEA-2D56-47DF-BD48-735F77BE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4">
            <a:extLst xmlns:a="http://schemas.openxmlformats.org/drawingml/2006/main">
              <a:ext uri="{FF2B5EF4-FFF2-40B4-BE49-F238E27FC236}">
                <a16:creationId xmlns:a16="http://schemas.microsoft.com/office/drawing/2014/main" id="{B01328F2-CF1D-4E65-8646-87CBDCFD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5/30</a:t>
            </a:r>
          </a:p>
        </p:txBody>
      </p:sp>
    </p:spTree>
    <p:extLst>
      <p:ext uri="{BB962C8B-B14F-4D97-AF65-F5344CB8AC3E}">
        <p14:creationId xmlns:p14="http://schemas.microsoft.com/office/powerpoint/2010/main" val="2053881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5">
            <a:extLst xmlns:a="http://schemas.openxmlformats.org/drawingml/2006/main">
              <a:ext uri="{FF2B5EF4-FFF2-40B4-BE49-F238E27FC236}">
                <a16:creationId xmlns:a16="http://schemas.microsoft.com/office/drawing/2014/main" id="{306F6B98-E878-4B48-83F9-41C0F8E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5">
            <a:extLst xmlns:a="http://schemas.openxmlformats.org/drawingml/2006/main">
              <a:ext uri="{FF2B5EF4-FFF2-40B4-BE49-F238E27FC236}">
                <a16:creationId xmlns:a16="http://schemas.microsoft.com/office/drawing/2014/main" id="{414D6261-330B-44A2-BE47-9BA7CA5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5">
            <a:extLst xmlns:a="http://schemas.openxmlformats.org/drawingml/2006/main">
              <a:ext uri="{FF2B5EF4-FFF2-40B4-BE49-F238E27FC236}">
                <a16:creationId xmlns:a16="http://schemas.microsoft.com/office/drawing/2014/main" id="{2A4942A7-9B51-45DB-8ECA-38EE2D3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5">
            <a:extLst xmlns:a="http://schemas.openxmlformats.org/drawingml/2006/main">
              <a:ext uri="{FF2B5EF4-FFF2-40B4-BE49-F238E27FC236}">
                <a16:creationId xmlns:a16="http://schemas.microsoft.com/office/drawing/2014/main" id="{1FCE3C66-1A6D-4518-836F-1D1E2816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5">
            <a:extLst xmlns:a="http://schemas.openxmlformats.org/drawingml/2006/main">
              <a:ext uri="{FF2B5EF4-FFF2-40B4-BE49-F238E27FC236}">
                <a16:creationId xmlns:a16="http://schemas.microsoft.com/office/drawing/2014/main" id="{D47590B0-F33E-4256-BFCD-EA6FF33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5">
            <a:extLst xmlns:a="http://schemas.openxmlformats.org/drawingml/2006/main">
              <a:ext uri="{FF2B5EF4-FFF2-40B4-BE49-F238E27FC236}">
                <a16:creationId xmlns:a16="http://schemas.microsoft.com/office/drawing/2014/main" id="{8536652B-8D50-4AF0-8234-83A03FC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5">
            <a:extLst xmlns:a="http://schemas.openxmlformats.org/drawingml/2006/main">
              <a:ext uri="{FF2B5EF4-FFF2-40B4-BE49-F238E27FC236}">
                <a16:creationId xmlns:a16="http://schemas.microsoft.com/office/drawing/2014/main" id="{36C570A6-DA10-4626-A9D5-E45EB3D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APPROXIMATION</a:t>
            </a:r>
          </a:p>
        </p:txBody>
      </p:sp>
      <p:sp>
        <p:nvSpPr>
          <p:cNvPr id="8" name="title.5">
            <a:extLst xmlns:a="http://schemas.openxmlformats.org/drawingml/2006/main">
              <a:ext uri="{FF2B5EF4-FFF2-40B4-BE49-F238E27FC236}">
                <a16:creationId xmlns:a16="http://schemas.microsoft.com/office/drawing/2014/main" id="{0CEAD7E9-CD92-4697-A4A8-A22AB6EA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Trapezoidal Rule</a:t>
            </a:r>
          </a:p>
        </p:txBody>
      </p:sp>
      <p:sp>
        <p:nvSpPr>
          <p:cNvPr id="9" name="subtitle.5">
            <a:extLst xmlns:a="http://schemas.openxmlformats.org/drawingml/2006/main">
              <a:ext uri="{FF2B5EF4-FFF2-40B4-BE49-F238E27FC236}">
                <a16:creationId xmlns:a16="http://schemas.microsoft.com/office/drawing/2014/main" id="{4A561AA7-1CC6-40BD-873F-4E483F5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Trapezoids average neighboring heights.</a:t>
            </a:r>
          </a:p>
        </p:txBody>
      </p:sp>
      <p:sp>
        <p:nvSpPr>
          <p:cNvPr id="10" name="formulaCard.5">
            <a:extLst xmlns:a="http://schemas.openxmlformats.org/drawingml/2006/main">
              <a:ext uri="{FF2B5EF4-FFF2-40B4-BE49-F238E27FC236}">
                <a16:creationId xmlns:a16="http://schemas.microsoft.com/office/drawing/2014/main" id="{847B0D9A-B0A4-4878-86B3-BAF3119D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5">
            <a:extLst xmlns:a="http://schemas.openxmlformats.org/drawingml/2006/main">
              <a:ext uri="{FF2B5EF4-FFF2-40B4-BE49-F238E27FC236}">
                <a16:creationId xmlns:a16="http://schemas.microsoft.com/office/drawing/2014/main" id="{7CD1E559-99EE-4D58-AE82-AD5ACEC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T_n = Δx/2 [y_0 + 2y_1 + ... + 2y_{n-1} + y_n]</a:t>
            </a:r>
          </a:p>
        </p:txBody>
      </p:sp>
      <p:sp>
        <p:nvSpPr>
          <p:cNvPr id="12" name="bullets.5">
            <a:extLst xmlns:a="http://schemas.openxmlformats.org/drawingml/2006/main">
              <a:ext uri="{FF2B5EF4-FFF2-40B4-BE49-F238E27FC236}">
                <a16:creationId xmlns:a16="http://schemas.microsoft.com/office/drawing/2014/main" id="{DEC4FDD3-9E45-48C5-9FA1-714CC25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first and last y-values are counted once.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Interior y-values are counted twice.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Trapezoids usually improve on rectangles for smooth functions.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Concavity helps decide overestimate or underestimate.</a:t>
            </a:r>
          </a:p>
        </p:txBody>
      </p:sp>
      <p:sp>
        <p:nvSpPr>
          <p:cNvPr id="13" name="iconCard.5">
            <a:extLst xmlns:a="http://schemas.openxmlformats.org/drawingml/2006/main">
              <a:ext uri="{FF2B5EF4-FFF2-40B4-BE49-F238E27FC236}">
                <a16:creationId xmlns:a16="http://schemas.microsoft.com/office/drawing/2014/main" id="{EBF33817-0D84-4D78-B0E3-307303A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5">
            <a:extLst xmlns:a="http://schemas.openxmlformats.org/drawingml/2006/main">
              <a:ext uri="{FF2B5EF4-FFF2-40B4-BE49-F238E27FC236}">
                <a16:creationId xmlns:a16="http://schemas.microsoft.com/office/drawing/2014/main" id="{97598102-E5A6-4DC1-9C67-5D28D0DF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🌐</a:t>
            </a:r>
          </a:p>
        </p:txBody>
      </p:sp>
      <p:sp>
        <p:nvSpPr>
          <p:cNvPr id="15" name="theme.5">
            <a:extLst xmlns:a="http://schemas.openxmlformats.org/drawingml/2006/main">
              <a:ext uri="{FF2B5EF4-FFF2-40B4-BE49-F238E27FC236}">
                <a16:creationId xmlns:a16="http://schemas.microsoft.com/office/drawing/2014/main" id="{195C2FDA-8F19-436B-A111-712AFA40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EPCOT Track</a:t>
            </a:r>
          </a:p>
        </p:txBody>
      </p:sp>
      <p:sp>
        <p:nvSpPr>
          <p:cNvPr id="16" name="exampleCard.5">
            <a:extLst xmlns:a="http://schemas.openxmlformats.org/drawingml/2006/main">
              <a:ext uri="{FF2B5EF4-FFF2-40B4-BE49-F238E27FC236}">
                <a16:creationId xmlns:a16="http://schemas.microsoft.com/office/drawing/2014/main" id="{D61C9DD7-2E98-4D06-A10E-9671B72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5">
            <a:extLst xmlns:a="http://schemas.openxmlformats.org/drawingml/2006/main">
              <a:ext uri="{FF2B5EF4-FFF2-40B4-BE49-F238E27FC236}">
                <a16:creationId xmlns:a16="http://schemas.microsoft.com/office/drawing/2014/main" id="{326E0A14-B921-407E-B268-FFE8C9A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For y-values 1,4,7 with Δx=2: T=(2/2)(1+2·4+7)=16.</a:t>
            </a:r>
          </a:p>
        </p:txBody>
      </p:sp>
      <p:sp>
        <p:nvSpPr>
          <p:cNvPr id="18" name="notes.5">
            <a:extLst xmlns:a="http://schemas.openxmlformats.org/drawingml/2006/main">
              <a:ext uri="{FF2B5EF4-FFF2-40B4-BE49-F238E27FC236}">
                <a16:creationId xmlns:a16="http://schemas.microsoft.com/office/drawing/2014/main" id="{78DF3FAD-C864-4CD9-B1CE-7FD4139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Emphasize the pattern: single, double, single.</a:t>
            </a:r>
          </a:p>
        </p:txBody>
      </p:sp>
      <p:sp>
        <p:nvSpPr>
          <p:cNvPr id="19" name="footerLine.5">
            <a:extLst xmlns:a="http://schemas.openxmlformats.org/drawingml/2006/main">
              <a:ext uri="{FF2B5EF4-FFF2-40B4-BE49-F238E27FC236}">
                <a16:creationId xmlns:a16="http://schemas.microsoft.com/office/drawing/2014/main" id="{92F7EE62-2667-4ADF-86DA-F8C7169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5">
            <a:extLst xmlns:a="http://schemas.openxmlformats.org/drawingml/2006/main">
              <a:ext uri="{FF2B5EF4-FFF2-40B4-BE49-F238E27FC236}">
                <a16:creationId xmlns:a16="http://schemas.microsoft.com/office/drawing/2014/main" id="{E79B8A2F-9DF0-4AB4-A0DE-0CCB95D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5">
            <a:extLst xmlns:a="http://schemas.openxmlformats.org/drawingml/2006/main">
              <a:ext uri="{FF2B5EF4-FFF2-40B4-BE49-F238E27FC236}">
                <a16:creationId xmlns:a16="http://schemas.microsoft.com/office/drawing/2014/main" id="{EE80E5A7-EE9B-4D7A-9ADE-A57E744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6/30</a:t>
            </a:r>
          </a:p>
        </p:txBody>
      </p:sp>
    </p:spTree>
    <p:extLst>
      <p:ext uri="{BB962C8B-B14F-4D97-AF65-F5344CB8AC3E}">
        <p14:creationId xmlns:p14="http://schemas.microsoft.com/office/powerpoint/2010/main" val="1846950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6">
            <a:extLst xmlns:a="http://schemas.openxmlformats.org/drawingml/2006/main">
              <a:ext uri="{FF2B5EF4-FFF2-40B4-BE49-F238E27FC236}">
                <a16:creationId xmlns:a16="http://schemas.microsoft.com/office/drawing/2014/main" id="{5F9399A7-6821-48DA-8A6F-C22C614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6">
            <a:extLst xmlns:a="http://schemas.openxmlformats.org/drawingml/2006/main">
              <a:ext uri="{FF2B5EF4-FFF2-40B4-BE49-F238E27FC236}">
                <a16:creationId xmlns:a16="http://schemas.microsoft.com/office/drawing/2014/main" id="{E4D92E59-5CD9-4084-BD4F-74DFD30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6">
            <a:extLst xmlns:a="http://schemas.openxmlformats.org/drawingml/2006/main">
              <a:ext uri="{FF2B5EF4-FFF2-40B4-BE49-F238E27FC236}">
                <a16:creationId xmlns:a16="http://schemas.microsoft.com/office/drawing/2014/main" id="{A9595E64-8969-4977-8269-2A8DE610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6">
            <a:extLst xmlns:a="http://schemas.openxmlformats.org/drawingml/2006/main">
              <a:ext uri="{FF2B5EF4-FFF2-40B4-BE49-F238E27FC236}">
                <a16:creationId xmlns:a16="http://schemas.microsoft.com/office/drawing/2014/main" id="{9F360303-559E-4042-8BCF-E622476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6">
            <a:extLst xmlns:a="http://schemas.openxmlformats.org/drawingml/2006/main">
              <a:ext uri="{FF2B5EF4-FFF2-40B4-BE49-F238E27FC236}">
                <a16:creationId xmlns:a16="http://schemas.microsoft.com/office/drawing/2014/main" id="{471C8FC8-DCC0-4CAF-A10B-342DA9D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6">
            <a:extLst xmlns:a="http://schemas.openxmlformats.org/drawingml/2006/main">
              <a:ext uri="{FF2B5EF4-FFF2-40B4-BE49-F238E27FC236}">
                <a16:creationId xmlns:a16="http://schemas.microsoft.com/office/drawing/2014/main" id="{8B1524FE-8C09-498F-91AE-0EE97798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6">
            <a:extLst xmlns:a="http://schemas.openxmlformats.org/drawingml/2006/main">
              <a:ext uri="{FF2B5EF4-FFF2-40B4-BE49-F238E27FC236}">
                <a16:creationId xmlns:a16="http://schemas.microsoft.com/office/drawing/2014/main" id="{4CE1ACE8-64F6-4EBB-B411-343C0C93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NOTATION</a:t>
            </a:r>
          </a:p>
        </p:txBody>
      </p:sp>
      <p:sp>
        <p:nvSpPr>
          <p:cNvPr id="8" name="title.6">
            <a:extLst xmlns:a="http://schemas.openxmlformats.org/drawingml/2006/main">
              <a:ext uri="{FF2B5EF4-FFF2-40B4-BE49-F238E27FC236}">
                <a16:creationId xmlns:a16="http://schemas.microsoft.com/office/drawing/2014/main" id="{96035CEB-3D3F-45DE-8BDD-986AC761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From Sums to Definite Integrals</a:t>
            </a:r>
          </a:p>
        </p:txBody>
      </p:sp>
      <p:sp>
        <p:nvSpPr>
          <p:cNvPr id="9" name="subtitle.6">
            <a:extLst xmlns:a="http://schemas.openxmlformats.org/drawingml/2006/main">
              <a:ext uri="{FF2B5EF4-FFF2-40B4-BE49-F238E27FC236}">
                <a16:creationId xmlns:a16="http://schemas.microsoft.com/office/drawing/2014/main" id="{D91E1087-9411-48DA-91F3-2CCF1A44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A definite integral is the limit of Riemann sums.</a:t>
            </a:r>
          </a:p>
        </p:txBody>
      </p:sp>
      <p:sp>
        <p:nvSpPr>
          <p:cNvPr id="10" name="formulaCard.6">
            <a:extLst xmlns:a="http://schemas.openxmlformats.org/drawingml/2006/main">
              <a:ext uri="{FF2B5EF4-FFF2-40B4-BE49-F238E27FC236}">
                <a16:creationId xmlns:a16="http://schemas.microsoft.com/office/drawing/2014/main" id="{9E9463E0-11BC-4C0B-A074-6F0A7BB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6">
            <a:extLst xmlns:a="http://schemas.openxmlformats.org/drawingml/2006/main">
              <a:ext uri="{FF2B5EF4-FFF2-40B4-BE49-F238E27FC236}">
                <a16:creationId xmlns:a16="http://schemas.microsoft.com/office/drawing/2014/main" id="{597AE41B-F54F-4A87-A3DC-DA6140AF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lim_{n→∞} Σ f(x_i*)Δx = ∫_a^b f(x)dx</a:t>
            </a:r>
          </a:p>
        </p:txBody>
      </p:sp>
      <p:sp>
        <p:nvSpPr>
          <p:cNvPr id="12" name="bullets.6">
            <a:extLst xmlns:a="http://schemas.openxmlformats.org/drawingml/2006/main">
              <a:ext uri="{FF2B5EF4-FFF2-40B4-BE49-F238E27FC236}">
                <a16:creationId xmlns:a16="http://schemas.microsoft.com/office/drawing/2014/main" id="{846A674B-8D76-41B7-BBBE-5DFE4D87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summation expression estimates area.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limit makes the rectangles infinitely thin.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integral symbol represents exact signed accumulation.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lower and upper bounds come from the interval.</a:t>
            </a:r>
          </a:p>
        </p:txBody>
      </p:sp>
      <p:sp>
        <p:nvSpPr>
          <p:cNvPr id="13" name="iconCard.6">
            <a:extLst xmlns:a="http://schemas.openxmlformats.org/drawingml/2006/main">
              <a:ext uri="{FF2B5EF4-FFF2-40B4-BE49-F238E27FC236}">
                <a16:creationId xmlns:a16="http://schemas.microsoft.com/office/drawing/2014/main" id="{B6032AFE-099B-4AA3-B6E0-04EF8F29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6">
            <a:extLst xmlns:a="http://schemas.openxmlformats.org/drawingml/2006/main">
              <a:ext uri="{FF2B5EF4-FFF2-40B4-BE49-F238E27FC236}">
                <a16:creationId xmlns:a16="http://schemas.microsoft.com/office/drawing/2014/main" id="{ACB2DDB7-C26D-413A-B0C7-09F7E744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🌐</a:t>
            </a:r>
          </a:p>
        </p:txBody>
      </p:sp>
      <p:sp>
        <p:nvSpPr>
          <p:cNvPr id="15" name="theme.6">
            <a:extLst xmlns:a="http://schemas.openxmlformats.org/drawingml/2006/main">
              <a:ext uri="{FF2B5EF4-FFF2-40B4-BE49-F238E27FC236}">
                <a16:creationId xmlns:a16="http://schemas.microsoft.com/office/drawing/2014/main" id="{F633C406-6B13-4318-93B9-DFCDAC7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Pandora Scanner</a:t>
            </a:r>
          </a:p>
        </p:txBody>
      </p:sp>
      <p:sp>
        <p:nvSpPr>
          <p:cNvPr id="16" name="exampleCard.6">
            <a:extLst xmlns:a="http://schemas.openxmlformats.org/drawingml/2006/main">
              <a:ext uri="{FF2B5EF4-FFF2-40B4-BE49-F238E27FC236}">
                <a16:creationId xmlns:a16="http://schemas.microsoft.com/office/drawing/2014/main" id="{588C7D15-46AB-40E8-8C8E-A3EAE88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6">
            <a:extLst xmlns:a="http://schemas.openxmlformats.org/drawingml/2006/main">
              <a:ext uri="{FF2B5EF4-FFF2-40B4-BE49-F238E27FC236}">
                <a16:creationId xmlns:a16="http://schemas.microsoft.com/office/drawing/2014/main" id="{2316C3C0-9BF9-4F6A-91A0-C6444BF8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lim Σ(3(x_i*)^2+1)Δx on [0,4] becomes ∫_0^4(3x^2+1)dx.</a:t>
            </a:r>
          </a:p>
        </p:txBody>
      </p:sp>
      <p:sp>
        <p:nvSpPr>
          <p:cNvPr id="18" name="notes.6">
            <a:extLst xmlns:a="http://schemas.openxmlformats.org/drawingml/2006/main">
              <a:ext uri="{FF2B5EF4-FFF2-40B4-BE49-F238E27FC236}">
                <a16:creationId xmlns:a16="http://schemas.microsoft.com/office/drawing/2014/main" id="{6E4FDC86-0ABE-4252-879E-CDFF57A2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a key bridge slide. Students often miss that the interval becomes the bounds.</a:t>
            </a:r>
          </a:p>
        </p:txBody>
      </p:sp>
      <p:sp>
        <p:nvSpPr>
          <p:cNvPr id="19" name="footerLine.6">
            <a:extLst xmlns:a="http://schemas.openxmlformats.org/drawingml/2006/main">
              <a:ext uri="{FF2B5EF4-FFF2-40B4-BE49-F238E27FC236}">
                <a16:creationId xmlns:a16="http://schemas.microsoft.com/office/drawing/2014/main" id="{A056E910-A2AB-4EE7-916C-B22AAA05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6">
            <a:extLst xmlns:a="http://schemas.openxmlformats.org/drawingml/2006/main">
              <a:ext uri="{FF2B5EF4-FFF2-40B4-BE49-F238E27FC236}">
                <a16:creationId xmlns:a16="http://schemas.microsoft.com/office/drawing/2014/main" id="{E90D453C-8AA2-43A4-98B6-709E351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6">
            <a:extLst xmlns:a="http://schemas.openxmlformats.org/drawingml/2006/main">
              <a:ext uri="{FF2B5EF4-FFF2-40B4-BE49-F238E27FC236}">
                <a16:creationId xmlns:a16="http://schemas.microsoft.com/office/drawing/2014/main" id="{0928F15E-FE84-4317-8242-F349468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7/30</a:t>
            </a:r>
          </a:p>
        </p:txBody>
      </p:sp>
    </p:spTree>
    <p:extLst>
      <p:ext uri="{BB962C8B-B14F-4D97-AF65-F5344CB8AC3E}">
        <p14:creationId xmlns:p14="http://schemas.microsoft.com/office/powerpoint/2010/main" val="327034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7">
            <a:extLst xmlns:a="http://schemas.openxmlformats.org/drawingml/2006/main">
              <a:ext uri="{FF2B5EF4-FFF2-40B4-BE49-F238E27FC236}">
                <a16:creationId xmlns:a16="http://schemas.microsoft.com/office/drawing/2014/main" id="{C2B036BB-2258-43BE-8303-26DD483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7">
            <a:extLst xmlns:a="http://schemas.openxmlformats.org/drawingml/2006/main">
              <a:ext uri="{FF2B5EF4-FFF2-40B4-BE49-F238E27FC236}">
                <a16:creationId xmlns:a16="http://schemas.microsoft.com/office/drawing/2014/main" id="{D9A9C02D-DA52-438C-85FF-B4701A77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7">
            <a:extLst xmlns:a="http://schemas.openxmlformats.org/drawingml/2006/main">
              <a:ext uri="{FF2B5EF4-FFF2-40B4-BE49-F238E27FC236}">
                <a16:creationId xmlns:a16="http://schemas.microsoft.com/office/drawing/2014/main" id="{F2DD60A7-2744-4A19-9099-657E251D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7">
            <a:extLst xmlns:a="http://schemas.openxmlformats.org/drawingml/2006/main">
              <a:ext uri="{FF2B5EF4-FFF2-40B4-BE49-F238E27FC236}">
                <a16:creationId xmlns:a16="http://schemas.microsoft.com/office/drawing/2014/main" id="{29C5B35E-23AB-4B98-8516-8382F4A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7">
            <a:extLst xmlns:a="http://schemas.openxmlformats.org/drawingml/2006/main">
              <a:ext uri="{FF2B5EF4-FFF2-40B4-BE49-F238E27FC236}">
                <a16:creationId xmlns:a16="http://schemas.microsoft.com/office/drawing/2014/main" id="{8F88EEE5-7A1F-4874-AE00-1541DBD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7">
            <a:extLst xmlns:a="http://schemas.openxmlformats.org/drawingml/2006/main">
              <a:ext uri="{FF2B5EF4-FFF2-40B4-BE49-F238E27FC236}">
                <a16:creationId xmlns:a16="http://schemas.microsoft.com/office/drawing/2014/main" id="{D46E32A7-C6F3-4EC5-807E-C2BC83A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7">
            <a:extLst xmlns:a="http://schemas.openxmlformats.org/drawingml/2006/main">
              <a:ext uri="{FF2B5EF4-FFF2-40B4-BE49-F238E27FC236}">
                <a16:creationId xmlns:a16="http://schemas.microsoft.com/office/drawing/2014/main" id="{66CCAA05-E561-46AD-A5CF-7D62F8E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8" name="title.7">
            <a:extLst xmlns:a="http://schemas.openxmlformats.org/drawingml/2006/main">
              <a:ext uri="{FF2B5EF4-FFF2-40B4-BE49-F238E27FC236}">
                <a16:creationId xmlns:a16="http://schemas.microsoft.com/office/drawing/2014/main" id="{FBFDAAF4-72EB-427D-A025-DA1D474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Properties of Definite Integrals</a:t>
            </a:r>
          </a:p>
        </p:txBody>
      </p:sp>
      <p:sp>
        <p:nvSpPr>
          <p:cNvPr id="9" name="subtitle.7">
            <a:extLst xmlns:a="http://schemas.openxmlformats.org/drawingml/2006/main">
              <a:ext uri="{FF2B5EF4-FFF2-40B4-BE49-F238E27FC236}">
                <a16:creationId xmlns:a16="http://schemas.microsoft.com/office/drawing/2014/main" id="{BB0E45E4-26F8-4412-89F4-8455E56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Most simplification comes from interval logic.</a:t>
            </a:r>
          </a:p>
        </p:txBody>
      </p:sp>
      <p:sp>
        <p:nvSpPr>
          <p:cNvPr id="10" name="formulaCard.7">
            <a:extLst xmlns:a="http://schemas.openxmlformats.org/drawingml/2006/main">
              <a:ext uri="{FF2B5EF4-FFF2-40B4-BE49-F238E27FC236}">
                <a16:creationId xmlns:a16="http://schemas.microsoft.com/office/drawing/2014/main" id="{20D0834B-9158-44FB-AD0A-31E4707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7">
            <a:extLst xmlns:a="http://schemas.openxmlformats.org/drawingml/2006/main">
              <a:ext uri="{FF2B5EF4-FFF2-40B4-BE49-F238E27FC236}">
                <a16:creationId xmlns:a16="http://schemas.microsoft.com/office/drawing/2014/main" id="{2995F4CE-1B41-4220-BCC5-B4EE43F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∫_a^c f = ∫_a^b f + ∫_b^c f</a:t>
            </a:r>
          </a:p>
        </p:txBody>
      </p:sp>
      <p:sp>
        <p:nvSpPr>
          <p:cNvPr id="12" name="bullets.7">
            <a:extLst xmlns:a="http://schemas.openxmlformats.org/drawingml/2006/main">
              <a:ext uri="{FF2B5EF4-FFF2-40B4-BE49-F238E27FC236}">
                <a16:creationId xmlns:a16="http://schemas.microsoft.com/office/drawing/2014/main" id="{8EA7F86D-3094-49B0-BBF0-5967747F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Reversing bounds changes the sign.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Adding adjacent intervals combines accumulated change.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Constants can be factored out.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integral from a to a is zero.</a:t>
            </a:r>
          </a:p>
        </p:txBody>
      </p:sp>
      <p:sp>
        <p:nvSpPr>
          <p:cNvPr id="13" name="iconCard.7">
            <a:extLst xmlns:a="http://schemas.openxmlformats.org/drawingml/2006/main">
              <a:ext uri="{FF2B5EF4-FFF2-40B4-BE49-F238E27FC236}">
                <a16:creationId xmlns:a16="http://schemas.microsoft.com/office/drawing/2014/main" id="{69DE02F5-4431-4E64-AEE8-687B049F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7">
            <a:extLst xmlns:a="http://schemas.openxmlformats.org/drawingml/2006/main">
              <a:ext uri="{FF2B5EF4-FFF2-40B4-BE49-F238E27FC236}">
                <a16:creationId xmlns:a16="http://schemas.microsoft.com/office/drawing/2014/main" id="{21D944BE-C537-48BE-8438-1C77DDE4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7">
            <a:extLst xmlns:a="http://schemas.openxmlformats.org/drawingml/2006/main">
              <a:ext uri="{FF2B5EF4-FFF2-40B4-BE49-F238E27FC236}">
                <a16:creationId xmlns:a16="http://schemas.microsoft.com/office/drawing/2014/main" id="{C9D2E56D-67A5-4670-9D66-98A6C50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Cinderella Spell</a:t>
            </a:r>
          </a:p>
        </p:txBody>
      </p:sp>
      <p:sp>
        <p:nvSpPr>
          <p:cNvPr id="16" name="exampleCard.7">
            <a:extLst xmlns:a="http://schemas.openxmlformats.org/drawingml/2006/main">
              <a:ext uri="{FF2B5EF4-FFF2-40B4-BE49-F238E27FC236}">
                <a16:creationId xmlns:a16="http://schemas.microsoft.com/office/drawing/2014/main" id="{218712B8-E749-448C-B7D5-E0AA468F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7">
            <a:extLst xmlns:a="http://schemas.openxmlformats.org/drawingml/2006/main">
              <a:ext uri="{FF2B5EF4-FFF2-40B4-BE49-F238E27FC236}">
                <a16:creationId xmlns:a16="http://schemas.microsoft.com/office/drawing/2014/main" id="{A1404279-CFFB-4BE8-8D5D-CE47B364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If ∫_1^4 f=9 and ∫_1^2 f=3, then ∫_2^4 f=6.</a:t>
            </a:r>
          </a:p>
        </p:txBody>
      </p:sp>
      <p:sp>
        <p:nvSpPr>
          <p:cNvPr id="18" name="notes.7">
            <a:extLst xmlns:a="http://schemas.openxmlformats.org/drawingml/2006/main">
              <a:ext uri="{FF2B5EF4-FFF2-40B4-BE49-F238E27FC236}">
                <a16:creationId xmlns:a16="http://schemas.microsoft.com/office/drawing/2014/main" id="{938BC266-55A2-4673-9FF9-9907116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slide matches several fast game questions where students can score by knowing properties.</a:t>
            </a:r>
          </a:p>
        </p:txBody>
      </p:sp>
      <p:sp>
        <p:nvSpPr>
          <p:cNvPr id="19" name="footerLine.7">
            <a:extLst xmlns:a="http://schemas.openxmlformats.org/drawingml/2006/main">
              <a:ext uri="{FF2B5EF4-FFF2-40B4-BE49-F238E27FC236}">
                <a16:creationId xmlns:a16="http://schemas.microsoft.com/office/drawing/2014/main" id="{B7FCE665-BB24-48C9-B827-222EF4C6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7">
            <a:extLst xmlns:a="http://schemas.openxmlformats.org/drawingml/2006/main">
              <a:ext uri="{FF2B5EF4-FFF2-40B4-BE49-F238E27FC236}">
                <a16:creationId xmlns:a16="http://schemas.microsoft.com/office/drawing/2014/main" id="{ED1FA29E-B1FC-4426-AB51-A707A4E0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7">
            <a:extLst xmlns:a="http://schemas.openxmlformats.org/drawingml/2006/main">
              <a:ext uri="{FF2B5EF4-FFF2-40B4-BE49-F238E27FC236}">
                <a16:creationId xmlns:a16="http://schemas.microsoft.com/office/drawing/2014/main" id="{9461EE42-6F74-4283-B070-DDC17AB7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8/30</a:t>
            </a:r>
          </a:p>
        </p:txBody>
      </p:sp>
    </p:spTree>
    <p:extLst>
      <p:ext uri="{BB962C8B-B14F-4D97-AF65-F5344CB8AC3E}">
        <p14:creationId xmlns:p14="http://schemas.microsoft.com/office/powerpoint/2010/main" val="1147467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8">
            <a:extLst xmlns:a="http://schemas.openxmlformats.org/drawingml/2006/main">
              <a:ext uri="{FF2B5EF4-FFF2-40B4-BE49-F238E27FC236}">
                <a16:creationId xmlns:a16="http://schemas.microsoft.com/office/drawing/2014/main" id="{52FB2C56-7005-48F2-8DE7-C0FFB336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8">
            <a:extLst xmlns:a="http://schemas.openxmlformats.org/drawingml/2006/main">
              <a:ext uri="{FF2B5EF4-FFF2-40B4-BE49-F238E27FC236}">
                <a16:creationId xmlns:a16="http://schemas.microsoft.com/office/drawing/2014/main" id="{E4B71740-27EB-4877-9DBD-45C9FF4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8">
            <a:extLst xmlns:a="http://schemas.openxmlformats.org/drawingml/2006/main">
              <a:ext uri="{FF2B5EF4-FFF2-40B4-BE49-F238E27FC236}">
                <a16:creationId xmlns:a16="http://schemas.microsoft.com/office/drawing/2014/main" id="{11D59621-29B4-4BA4-B168-4653B5D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8">
            <a:extLst xmlns:a="http://schemas.openxmlformats.org/drawingml/2006/main">
              <a:ext uri="{FF2B5EF4-FFF2-40B4-BE49-F238E27FC236}">
                <a16:creationId xmlns:a16="http://schemas.microsoft.com/office/drawing/2014/main" id="{5015CCCB-FE53-432E-94E4-1E89A285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8">
            <a:extLst xmlns:a="http://schemas.openxmlformats.org/drawingml/2006/main">
              <a:ext uri="{FF2B5EF4-FFF2-40B4-BE49-F238E27FC236}">
                <a16:creationId xmlns:a16="http://schemas.microsoft.com/office/drawing/2014/main" id="{A68BDD4C-9BB6-4329-ADE2-264F46C1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8">
            <a:extLst xmlns:a="http://schemas.openxmlformats.org/drawingml/2006/main">
              <a:ext uri="{FF2B5EF4-FFF2-40B4-BE49-F238E27FC236}">
                <a16:creationId xmlns:a16="http://schemas.microsoft.com/office/drawing/2014/main" id="{E99BC20D-5C7A-456E-8C0E-706F337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8">
            <a:extLst xmlns:a="http://schemas.openxmlformats.org/drawingml/2006/main">
              <a:ext uri="{FF2B5EF4-FFF2-40B4-BE49-F238E27FC236}">
                <a16:creationId xmlns:a16="http://schemas.microsoft.com/office/drawing/2014/main" id="{A66EC98D-D4B2-46F2-84B6-E414F33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FTC</a:t>
            </a:r>
          </a:p>
        </p:txBody>
      </p:sp>
      <p:sp>
        <p:nvSpPr>
          <p:cNvPr id="8" name="title.8">
            <a:extLst xmlns:a="http://schemas.openxmlformats.org/drawingml/2006/main">
              <a:ext uri="{FF2B5EF4-FFF2-40B4-BE49-F238E27FC236}">
                <a16:creationId xmlns:a16="http://schemas.microsoft.com/office/drawing/2014/main" id="{E71483C8-0BA6-469C-809C-D7A428F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FTC Part 1</a:t>
            </a:r>
          </a:p>
        </p:txBody>
      </p:sp>
      <p:sp>
        <p:nvSpPr>
          <p:cNvPr id="9" name="subtitle.8">
            <a:extLst xmlns:a="http://schemas.openxmlformats.org/drawingml/2006/main">
              <a:ext uri="{FF2B5EF4-FFF2-40B4-BE49-F238E27FC236}">
                <a16:creationId xmlns:a16="http://schemas.microsoft.com/office/drawing/2014/main" id="{AA6A78C1-D7B0-4305-926D-7FF7691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222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derivative of an accumulation function gives the original integrand.</a:t>
            </a:r>
          </a:p>
        </p:txBody>
      </p:sp>
      <p:sp>
        <p:nvSpPr>
          <p:cNvPr id="10" name="formulaCard.8">
            <a:extLst xmlns:a="http://schemas.openxmlformats.org/drawingml/2006/main">
              <a:ext uri="{FF2B5EF4-FFF2-40B4-BE49-F238E27FC236}">
                <a16:creationId xmlns:a16="http://schemas.microsoft.com/office/drawing/2014/main" id="{E0F62C11-AD4E-4B8C-ACF1-3CEB0900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8">
            <a:extLst xmlns:a="http://schemas.openxmlformats.org/drawingml/2006/main">
              <a:ext uri="{FF2B5EF4-FFF2-40B4-BE49-F238E27FC236}">
                <a16:creationId xmlns:a16="http://schemas.microsoft.com/office/drawing/2014/main" id="{BBAC270A-81BE-4EE1-BAB6-ADD272E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If G(x)=∫_a^x f(t)dt, then G'(x)=f(x)</a:t>
            </a:r>
          </a:p>
        </p:txBody>
      </p:sp>
      <p:sp>
        <p:nvSpPr>
          <p:cNvPr id="12" name="bullets.8">
            <a:extLst xmlns:a="http://schemas.openxmlformats.org/drawingml/2006/main">
              <a:ext uri="{FF2B5EF4-FFF2-40B4-BE49-F238E27FC236}">
                <a16:creationId xmlns:a16="http://schemas.microsoft.com/office/drawing/2014/main" id="{0CEADF48-77C0-48F7-8179-F85A442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variable upper bound is the key signal.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Replace t with x after differentiating.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This does not require finding an antiderivative first.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It connects area accumulation to instantaneous rate.</a:t>
            </a:r>
          </a:p>
        </p:txBody>
      </p:sp>
      <p:sp>
        <p:nvSpPr>
          <p:cNvPr id="13" name="iconCard.8">
            <a:extLst xmlns:a="http://schemas.openxmlformats.org/drawingml/2006/main">
              <a:ext uri="{FF2B5EF4-FFF2-40B4-BE49-F238E27FC236}">
                <a16:creationId xmlns:a16="http://schemas.microsoft.com/office/drawing/2014/main" id="{A215CBB5-48C1-47E9-BE3E-D1DB24C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8">
            <a:extLst xmlns:a="http://schemas.openxmlformats.org/drawingml/2006/main">
              <a:ext uri="{FF2B5EF4-FFF2-40B4-BE49-F238E27FC236}">
                <a16:creationId xmlns:a16="http://schemas.microsoft.com/office/drawing/2014/main" id="{DF41E4C9-BF3E-4351-BE07-BBCFDD7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8">
            <a:extLst xmlns:a="http://schemas.openxmlformats.org/drawingml/2006/main">
              <a:ext uri="{FF2B5EF4-FFF2-40B4-BE49-F238E27FC236}">
                <a16:creationId xmlns:a16="http://schemas.microsoft.com/office/drawing/2014/main" id="{8D0E16B8-184E-4542-8E0C-D20639E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Fantasyland Portal</a:t>
            </a:r>
          </a:p>
        </p:txBody>
      </p:sp>
      <p:sp>
        <p:nvSpPr>
          <p:cNvPr id="16" name="exampleCard.8">
            <a:extLst xmlns:a="http://schemas.openxmlformats.org/drawingml/2006/main">
              <a:ext uri="{FF2B5EF4-FFF2-40B4-BE49-F238E27FC236}">
                <a16:creationId xmlns:a16="http://schemas.microsoft.com/office/drawing/2014/main" id="{8C134988-2DF0-4949-82A7-814CFA8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8">
            <a:extLst xmlns:a="http://schemas.openxmlformats.org/drawingml/2006/main">
              <a:ext uri="{FF2B5EF4-FFF2-40B4-BE49-F238E27FC236}">
                <a16:creationId xmlns:a16="http://schemas.microsoft.com/office/drawing/2014/main" id="{76FF5018-68F8-455D-A126-E3ED0A4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G(x)=∫_2^x √(t^2+1)dt gives G'(x)=√(x^2+1).</a:t>
            </a:r>
          </a:p>
        </p:txBody>
      </p:sp>
      <p:sp>
        <p:nvSpPr>
          <p:cNvPr id="18" name="notes.8">
            <a:extLst xmlns:a="http://schemas.openxmlformats.org/drawingml/2006/main">
              <a:ext uri="{FF2B5EF4-FFF2-40B4-BE49-F238E27FC236}">
                <a16:creationId xmlns:a16="http://schemas.microsoft.com/office/drawing/2014/main" id="{F5945F78-707B-4C81-9F11-30FC5F38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Say: the integral accumulates, the derivative asks how fast the accumulation is changing.</a:t>
            </a:r>
          </a:p>
        </p:txBody>
      </p:sp>
      <p:sp>
        <p:nvSpPr>
          <p:cNvPr id="19" name="footerLine.8">
            <a:extLst xmlns:a="http://schemas.openxmlformats.org/drawingml/2006/main">
              <a:ext uri="{FF2B5EF4-FFF2-40B4-BE49-F238E27FC236}">
                <a16:creationId xmlns:a16="http://schemas.microsoft.com/office/drawing/2014/main" id="{FFB7F06B-3461-4D9A-A815-A42983BC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8">
            <a:extLst xmlns:a="http://schemas.openxmlformats.org/drawingml/2006/main">
              <a:ext uri="{FF2B5EF4-FFF2-40B4-BE49-F238E27FC236}">
                <a16:creationId xmlns:a16="http://schemas.microsoft.com/office/drawing/2014/main" id="{61A26341-CEBD-4C02-B25A-F40576B8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8">
            <a:extLst xmlns:a="http://schemas.openxmlformats.org/drawingml/2006/main">
              <a:ext uri="{FF2B5EF4-FFF2-40B4-BE49-F238E27FC236}">
                <a16:creationId xmlns:a16="http://schemas.microsoft.com/office/drawing/2014/main" id="{C35C5370-5F57-4CB1-877D-B135A71A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9/30</a:t>
            </a:r>
          </a:p>
        </p:txBody>
      </p:sp>
    </p:spTree>
    <p:extLst>
      <p:ext uri="{BB962C8B-B14F-4D97-AF65-F5344CB8AC3E}">
        <p14:creationId xmlns:p14="http://schemas.microsoft.com/office/powerpoint/2010/main" val="490622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9">
            <a:extLst xmlns:a="http://schemas.openxmlformats.org/drawingml/2006/main">
              <a:ext uri="{FF2B5EF4-FFF2-40B4-BE49-F238E27FC236}">
                <a16:creationId xmlns:a16="http://schemas.microsoft.com/office/drawing/2014/main" id="{AB192034-69EB-4D8F-A14C-407A1F1B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9">
            <a:extLst xmlns:a="http://schemas.openxmlformats.org/drawingml/2006/main">
              <a:ext uri="{FF2B5EF4-FFF2-40B4-BE49-F238E27FC236}">
                <a16:creationId xmlns:a16="http://schemas.microsoft.com/office/drawing/2014/main" id="{3B61A012-01AA-4DB5-8CBE-3E7FB17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9">
            <a:extLst xmlns:a="http://schemas.openxmlformats.org/drawingml/2006/main">
              <a:ext uri="{FF2B5EF4-FFF2-40B4-BE49-F238E27FC236}">
                <a16:creationId xmlns:a16="http://schemas.microsoft.com/office/drawing/2014/main" id="{E2D98C07-8223-4E53-A907-1C25CD99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9">
            <a:extLst xmlns:a="http://schemas.openxmlformats.org/drawingml/2006/main">
              <a:ext uri="{FF2B5EF4-FFF2-40B4-BE49-F238E27FC236}">
                <a16:creationId xmlns:a16="http://schemas.microsoft.com/office/drawing/2014/main" id="{CADD7F0D-82C9-4A39-A52A-E09EB42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9">
            <a:extLst xmlns:a="http://schemas.openxmlformats.org/drawingml/2006/main">
              <a:ext uri="{FF2B5EF4-FFF2-40B4-BE49-F238E27FC236}">
                <a16:creationId xmlns:a16="http://schemas.microsoft.com/office/drawing/2014/main" id="{CEEB9282-5730-487E-8FDE-635BE353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9">
            <a:extLst xmlns:a="http://schemas.openxmlformats.org/drawingml/2006/main">
              <a:ext uri="{FF2B5EF4-FFF2-40B4-BE49-F238E27FC236}">
                <a16:creationId xmlns:a16="http://schemas.microsoft.com/office/drawing/2014/main" id="{8CFDC1A8-7AF7-48B2-BA66-7DD2FFC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9">
            <a:extLst xmlns:a="http://schemas.openxmlformats.org/drawingml/2006/main">
              <a:ext uri="{FF2B5EF4-FFF2-40B4-BE49-F238E27FC236}">
                <a16:creationId xmlns:a16="http://schemas.microsoft.com/office/drawing/2014/main" id="{B4501779-40F5-43CD-A6DD-1A7E5833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FTC</a:t>
            </a:r>
          </a:p>
        </p:txBody>
      </p:sp>
      <p:sp>
        <p:nvSpPr>
          <p:cNvPr id="8" name="title.9">
            <a:extLst xmlns:a="http://schemas.openxmlformats.org/drawingml/2006/main">
              <a:ext uri="{FF2B5EF4-FFF2-40B4-BE49-F238E27FC236}">
                <a16:creationId xmlns:a16="http://schemas.microsoft.com/office/drawing/2014/main" id="{1E1CCB7A-9443-49DA-995D-76CE3AD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FTC With Chain Rule</a:t>
            </a:r>
          </a:p>
        </p:txBody>
      </p:sp>
      <p:sp>
        <p:nvSpPr>
          <p:cNvPr id="9" name="subtitle.9">
            <a:extLst xmlns:a="http://schemas.openxmlformats.org/drawingml/2006/main">
              <a:ext uri="{FF2B5EF4-FFF2-40B4-BE49-F238E27FC236}">
                <a16:creationId xmlns:a16="http://schemas.microsoft.com/office/drawing/2014/main" id="{ACD0AD2A-F4B3-422D-B0DE-4CDE593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A non-x upper bound adds an extra derivative.</a:t>
            </a:r>
          </a:p>
        </p:txBody>
      </p:sp>
      <p:sp>
        <p:nvSpPr>
          <p:cNvPr id="10" name="formulaCard.9">
            <a:extLst xmlns:a="http://schemas.openxmlformats.org/drawingml/2006/main">
              <a:ext uri="{FF2B5EF4-FFF2-40B4-BE49-F238E27FC236}">
                <a16:creationId xmlns:a16="http://schemas.microsoft.com/office/drawing/2014/main" id="{65764589-8392-4A72-A45A-E863080E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9">
            <a:extLst xmlns:a="http://schemas.openxmlformats.org/drawingml/2006/main">
              <a:ext uri="{FF2B5EF4-FFF2-40B4-BE49-F238E27FC236}">
                <a16:creationId xmlns:a16="http://schemas.microsoft.com/office/drawing/2014/main" id="{229D2BB5-ECB8-4D45-8574-674E49C1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d/dx ∫_a^{g(x)} f(t)dt = f(g(x))g'(x)</a:t>
            </a:r>
          </a:p>
        </p:txBody>
      </p:sp>
      <p:sp>
        <p:nvSpPr>
          <p:cNvPr id="12" name="bullets.9">
            <a:extLst xmlns:a="http://schemas.openxmlformats.org/drawingml/2006/main">
              <a:ext uri="{FF2B5EF4-FFF2-40B4-BE49-F238E27FC236}">
                <a16:creationId xmlns:a16="http://schemas.microsoft.com/office/drawing/2014/main" id="{D067BAC4-1894-4020-ADB9-F027A3BE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First plug the upper bound into the integrand.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Then multiply by the derivative of the upper bound.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If the variable is on the lower bound, include a negative sign.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This is a common AP-style trap.</a:t>
            </a:r>
          </a:p>
        </p:txBody>
      </p:sp>
      <p:sp>
        <p:nvSpPr>
          <p:cNvPr id="13" name="iconCard.9">
            <a:extLst xmlns:a="http://schemas.openxmlformats.org/drawingml/2006/main">
              <a:ext uri="{FF2B5EF4-FFF2-40B4-BE49-F238E27FC236}">
                <a16:creationId xmlns:a16="http://schemas.microsoft.com/office/drawing/2014/main" id="{77766EBF-51C6-4FC0-AB5F-16915CAE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9">
            <a:extLst xmlns:a="http://schemas.openxmlformats.org/drawingml/2006/main">
              <a:ext uri="{FF2B5EF4-FFF2-40B4-BE49-F238E27FC236}">
                <a16:creationId xmlns:a16="http://schemas.microsoft.com/office/drawing/2014/main" id="{05E6BC12-73DE-419B-9858-689973C6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9">
            <a:extLst xmlns:a="http://schemas.openxmlformats.org/drawingml/2006/main">
              <a:ext uri="{FF2B5EF4-FFF2-40B4-BE49-F238E27FC236}">
                <a16:creationId xmlns:a16="http://schemas.microsoft.com/office/drawing/2014/main" id="{42C5365B-1B9B-4DBA-8170-B73842B1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Wonderland</a:t>
            </a:r>
          </a:p>
        </p:txBody>
      </p:sp>
      <p:sp>
        <p:nvSpPr>
          <p:cNvPr id="16" name="exampleCard.9">
            <a:extLst xmlns:a="http://schemas.openxmlformats.org/drawingml/2006/main">
              <a:ext uri="{FF2B5EF4-FFF2-40B4-BE49-F238E27FC236}">
                <a16:creationId xmlns:a16="http://schemas.microsoft.com/office/drawing/2014/main" id="{56AB72FB-8109-4A2D-A461-B245CDC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9">
            <a:extLst xmlns:a="http://schemas.openxmlformats.org/drawingml/2006/main">
              <a:ext uri="{FF2B5EF4-FFF2-40B4-BE49-F238E27FC236}">
                <a16:creationId xmlns:a16="http://schemas.microsoft.com/office/drawing/2014/main" id="{12E603AC-BCF9-4093-AB89-96A4B069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H(x)=∫_1^{x^2} cos(t)dt gives H'(x)=2xcos(x^2).</a:t>
            </a:r>
          </a:p>
        </p:txBody>
      </p:sp>
      <p:sp>
        <p:nvSpPr>
          <p:cNvPr id="18" name="notes.9">
            <a:extLst xmlns:a="http://schemas.openxmlformats.org/drawingml/2006/main">
              <a:ext uri="{FF2B5EF4-FFF2-40B4-BE49-F238E27FC236}">
                <a16:creationId xmlns:a16="http://schemas.microsoft.com/office/drawing/2014/main" id="{F809B4EF-5F5A-4835-B8F9-F9CBEB35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Highlight the two moves: substitute, multiply.</a:t>
            </a:r>
          </a:p>
        </p:txBody>
      </p:sp>
      <p:sp>
        <p:nvSpPr>
          <p:cNvPr id="19" name="footerLine.9">
            <a:extLst xmlns:a="http://schemas.openxmlformats.org/drawingml/2006/main">
              <a:ext uri="{FF2B5EF4-FFF2-40B4-BE49-F238E27FC236}">
                <a16:creationId xmlns:a16="http://schemas.microsoft.com/office/drawing/2014/main" id="{C8DC9446-D496-483B-AE6B-0F19E7AD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9">
            <a:extLst xmlns:a="http://schemas.openxmlformats.org/drawingml/2006/main">
              <a:ext uri="{FF2B5EF4-FFF2-40B4-BE49-F238E27FC236}">
                <a16:creationId xmlns:a16="http://schemas.microsoft.com/office/drawing/2014/main" id="{67044699-C1D2-4457-BC24-EDA4543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9">
            <a:extLst xmlns:a="http://schemas.openxmlformats.org/drawingml/2006/main">
              <a:ext uri="{FF2B5EF4-FFF2-40B4-BE49-F238E27FC236}">
                <a16:creationId xmlns:a16="http://schemas.microsoft.com/office/drawing/2014/main" id="{E3705B41-C54F-40FB-A12D-D3D4251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10/30</a:t>
            </a:r>
          </a:p>
        </p:txBody>
      </p:sp>
    </p:spTree>
    <p:extLst>
      <p:ext uri="{BB962C8B-B14F-4D97-AF65-F5344CB8AC3E}">
        <p14:creationId xmlns:p14="http://schemas.microsoft.com/office/powerpoint/2010/main" val="48991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0">
            <a:extLst xmlns:a="http://schemas.openxmlformats.org/drawingml/2006/main">
              <a:ext uri="{FF2B5EF4-FFF2-40B4-BE49-F238E27FC236}">
                <a16:creationId xmlns:a16="http://schemas.microsoft.com/office/drawing/2014/main" id="{56063093-EBF0-43AA-961D-9029050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0">
            <a:extLst xmlns:a="http://schemas.openxmlformats.org/drawingml/2006/main">
              <a:ext uri="{FF2B5EF4-FFF2-40B4-BE49-F238E27FC236}">
                <a16:creationId xmlns:a16="http://schemas.microsoft.com/office/drawing/2014/main" id="{BBDBEB5C-5F20-46E3-96F0-8AE65EC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10">
            <a:extLst xmlns:a="http://schemas.openxmlformats.org/drawingml/2006/main">
              <a:ext uri="{FF2B5EF4-FFF2-40B4-BE49-F238E27FC236}">
                <a16:creationId xmlns:a16="http://schemas.microsoft.com/office/drawing/2014/main" id="{FFF82036-F80C-438B-9B47-1E1A8FF9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10">
            <a:extLst xmlns:a="http://schemas.openxmlformats.org/drawingml/2006/main">
              <a:ext uri="{FF2B5EF4-FFF2-40B4-BE49-F238E27FC236}">
                <a16:creationId xmlns:a16="http://schemas.microsoft.com/office/drawing/2014/main" id="{6E28A7F7-CFF8-4572-BCC0-478F5EC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0">
            <a:extLst xmlns:a="http://schemas.openxmlformats.org/drawingml/2006/main">
              <a:ext uri="{FF2B5EF4-FFF2-40B4-BE49-F238E27FC236}">
                <a16:creationId xmlns:a16="http://schemas.microsoft.com/office/drawing/2014/main" id="{8D51BE1C-E9C4-4057-860B-126BDE5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0">
            <a:extLst xmlns:a="http://schemas.openxmlformats.org/drawingml/2006/main">
              <a:ext uri="{FF2B5EF4-FFF2-40B4-BE49-F238E27FC236}">
                <a16:creationId xmlns:a16="http://schemas.microsoft.com/office/drawing/2014/main" id="{7EB2A52E-21B6-445E-A618-50A7A5E1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0">
            <a:extLst xmlns:a="http://schemas.openxmlformats.org/drawingml/2006/main">
              <a:ext uri="{FF2B5EF4-FFF2-40B4-BE49-F238E27FC236}">
                <a16:creationId xmlns:a16="http://schemas.microsoft.com/office/drawing/2014/main" id="{094A5CCF-81C1-4166-8E6B-AC03448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FTC</a:t>
            </a:r>
          </a:p>
        </p:txBody>
      </p:sp>
      <p:sp>
        <p:nvSpPr>
          <p:cNvPr id="8" name="title.10">
            <a:extLst xmlns:a="http://schemas.openxmlformats.org/drawingml/2006/main">
              <a:ext uri="{FF2B5EF4-FFF2-40B4-BE49-F238E27FC236}">
                <a16:creationId xmlns:a16="http://schemas.microsoft.com/office/drawing/2014/main" id="{CD5FCC25-1714-4612-9BF0-453AFCA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FTC Part 2</a:t>
            </a:r>
          </a:p>
        </p:txBody>
      </p:sp>
      <p:sp>
        <p:nvSpPr>
          <p:cNvPr id="9" name="subtitle.10">
            <a:extLst xmlns:a="http://schemas.openxmlformats.org/drawingml/2006/main">
              <a:ext uri="{FF2B5EF4-FFF2-40B4-BE49-F238E27FC236}">
                <a16:creationId xmlns:a16="http://schemas.microsoft.com/office/drawing/2014/main" id="{29CECA3B-874D-49E3-BA87-2B8F18A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Definite integrals can be evaluated with antiderivatives.</a:t>
            </a:r>
          </a:p>
        </p:txBody>
      </p:sp>
      <p:sp>
        <p:nvSpPr>
          <p:cNvPr id="10" name="formulaCard.10">
            <a:extLst xmlns:a="http://schemas.openxmlformats.org/drawingml/2006/main">
              <a:ext uri="{FF2B5EF4-FFF2-40B4-BE49-F238E27FC236}">
                <a16:creationId xmlns:a16="http://schemas.microsoft.com/office/drawing/2014/main" id="{C115F0A6-A98D-416B-BF87-974B0E0E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10">
            <a:extLst xmlns:a="http://schemas.openxmlformats.org/drawingml/2006/main">
              <a:ext uri="{FF2B5EF4-FFF2-40B4-BE49-F238E27FC236}">
                <a16:creationId xmlns:a16="http://schemas.microsoft.com/office/drawing/2014/main" id="{EA7D0384-3ABE-45D8-80CF-897B9F72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∫_a^b f(x)dx = F(b)-F(a)</a:t>
            </a:r>
          </a:p>
        </p:txBody>
      </p:sp>
      <p:sp>
        <p:nvSpPr>
          <p:cNvPr id="12" name="bullets.10">
            <a:extLst xmlns:a="http://schemas.openxmlformats.org/drawingml/2006/main">
              <a:ext uri="{FF2B5EF4-FFF2-40B4-BE49-F238E27FC236}">
                <a16:creationId xmlns:a16="http://schemas.microsoft.com/office/drawing/2014/main" id="{F55D2691-C8C2-43E9-BA5D-C0117E6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Find any antiderivative F of f.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Evaluate at the upper bound.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Subtract the value at the lower bound.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Do not add +C in a definite integral final answer.</a:t>
            </a:r>
          </a:p>
        </p:txBody>
      </p:sp>
      <p:sp>
        <p:nvSpPr>
          <p:cNvPr id="13" name="iconCard.10">
            <a:extLst xmlns:a="http://schemas.openxmlformats.org/drawingml/2006/main">
              <a:ext uri="{FF2B5EF4-FFF2-40B4-BE49-F238E27FC236}">
                <a16:creationId xmlns:a16="http://schemas.microsoft.com/office/drawing/2014/main" id="{E7781ADE-3E4E-4697-9F2F-98DF2B6C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10">
            <a:extLst xmlns:a="http://schemas.openxmlformats.org/drawingml/2006/main">
              <a:ext uri="{FF2B5EF4-FFF2-40B4-BE49-F238E27FC236}">
                <a16:creationId xmlns:a16="http://schemas.microsoft.com/office/drawing/2014/main" id="{763B96DF-D211-4DD5-8E3F-BF7F3DD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10">
            <a:extLst xmlns:a="http://schemas.openxmlformats.org/drawingml/2006/main">
              <a:ext uri="{FF2B5EF4-FFF2-40B4-BE49-F238E27FC236}">
                <a16:creationId xmlns:a16="http://schemas.microsoft.com/office/drawing/2014/main" id="{5B674AD3-E8D3-4750-9A30-4D6727B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Castle Gate</a:t>
            </a:r>
          </a:p>
        </p:txBody>
      </p:sp>
      <p:sp>
        <p:nvSpPr>
          <p:cNvPr id="16" name="exampleCard.10">
            <a:extLst xmlns:a="http://schemas.openxmlformats.org/drawingml/2006/main">
              <a:ext uri="{FF2B5EF4-FFF2-40B4-BE49-F238E27FC236}">
                <a16:creationId xmlns:a16="http://schemas.microsoft.com/office/drawing/2014/main" id="{C89992D7-0760-4FF5-A337-00814C7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0">
            <a:extLst xmlns:a="http://schemas.openxmlformats.org/drawingml/2006/main">
              <a:ext uri="{FF2B5EF4-FFF2-40B4-BE49-F238E27FC236}">
                <a16:creationId xmlns:a16="http://schemas.microsoft.com/office/drawing/2014/main" id="{51922553-8D2B-4ED1-A114-865047C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∫_0^3(2x+1)dx = [x^2+x]_0^3 = 12.</a:t>
            </a:r>
          </a:p>
        </p:txBody>
      </p:sp>
      <p:sp>
        <p:nvSpPr>
          <p:cNvPr id="18" name="notes.10">
            <a:extLst xmlns:a="http://schemas.openxmlformats.org/drawingml/2006/main">
              <a:ext uri="{FF2B5EF4-FFF2-40B4-BE49-F238E27FC236}">
                <a16:creationId xmlns:a16="http://schemas.microsoft.com/office/drawing/2014/main" id="{AF910BBE-16C7-4E31-8988-45EC5FC4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the most-used exact evaluation tool in the unit.</a:t>
            </a:r>
          </a:p>
        </p:txBody>
      </p:sp>
      <p:sp>
        <p:nvSpPr>
          <p:cNvPr id="19" name="footerLine.10">
            <a:extLst xmlns:a="http://schemas.openxmlformats.org/drawingml/2006/main">
              <a:ext uri="{FF2B5EF4-FFF2-40B4-BE49-F238E27FC236}">
                <a16:creationId xmlns:a16="http://schemas.microsoft.com/office/drawing/2014/main" id="{9248F05F-F0BA-4CE8-A940-A32AD577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0">
            <a:extLst xmlns:a="http://schemas.openxmlformats.org/drawingml/2006/main">
              <a:ext uri="{FF2B5EF4-FFF2-40B4-BE49-F238E27FC236}">
                <a16:creationId xmlns:a16="http://schemas.microsoft.com/office/drawing/2014/main" id="{2EEFDE71-CD87-4E1F-A934-15D2246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0">
            <a:extLst xmlns:a="http://schemas.openxmlformats.org/drawingml/2006/main">
              <a:ext uri="{FF2B5EF4-FFF2-40B4-BE49-F238E27FC236}">
                <a16:creationId xmlns:a16="http://schemas.microsoft.com/office/drawing/2014/main" id="{52137974-4B71-49C4-98D7-75D31CC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11/30</a:t>
            </a:r>
          </a:p>
        </p:txBody>
      </p:sp>
    </p:spTree>
    <p:extLst>
      <p:ext uri="{BB962C8B-B14F-4D97-AF65-F5344CB8AC3E}">
        <p14:creationId xmlns:p14="http://schemas.microsoft.com/office/powerpoint/2010/main" val="20343554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1">
            <a:extLst xmlns:a="http://schemas.openxmlformats.org/drawingml/2006/main">
              <a:ext uri="{FF2B5EF4-FFF2-40B4-BE49-F238E27FC236}">
                <a16:creationId xmlns:a16="http://schemas.microsoft.com/office/drawing/2014/main" id="{28FFD884-7415-4DCF-BBE2-9A92990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1">
            <a:extLst xmlns:a="http://schemas.openxmlformats.org/drawingml/2006/main">
              <a:ext uri="{FF2B5EF4-FFF2-40B4-BE49-F238E27FC236}">
                <a16:creationId xmlns:a16="http://schemas.microsoft.com/office/drawing/2014/main" id="{6599B8F6-12AA-4561-9DAD-CC5E03F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11">
            <a:extLst xmlns:a="http://schemas.openxmlformats.org/drawingml/2006/main">
              <a:ext uri="{FF2B5EF4-FFF2-40B4-BE49-F238E27FC236}">
                <a16:creationId xmlns:a16="http://schemas.microsoft.com/office/drawing/2014/main" id="{688BDF77-E40B-4178-92C8-D598FB2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1">
            <a:extLst xmlns:a="http://schemas.openxmlformats.org/drawingml/2006/main">
              <a:ext uri="{FF2B5EF4-FFF2-40B4-BE49-F238E27FC236}">
                <a16:creationId xmlns:a16="http://schemas.microsoft.com/office/drawing/2014/main" id="{F84A21A7-637C-4C0A-AD82-0204A8B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1">
            <a:extLst xmlns:a="http://schemas.openxmlformats.org/drawingml/2006/main">
              <a:ext uri="{FF2B5EF4-FFF2-40B4-BE49-F238E27FC236}">
                <a16:creationId xmlns:a16="http://schemas.microsoft.com/office/drawing/2014/main" id="{A50C4188-4C1D-4CA3-AA48-FE86F963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1">
            <a:extLst xmlns:a="http://schemas.openxmlformats.org/drawingml/2006/main">
              <a:ext uri="{FF2B5EF4-FFF2-40B4-BE49-F238E27FC236}">
                <a16:creationId xmlns:a16="http://schemas.microsoft.com/office/drawing/2014/main" id="{342266BC-CB41-488F-8CBD-366DDF3A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1">
            <a:extLst xmlns:a="http://schemas.openxmlformats.org/drawingml/2006/main">
              <a:ext uri="{FF2B5EF4-FFF2-40B4-BE49-F238E27FC236}">
                <a16:creationId xmlns:a16="http://schemas.microsoft.com/office/drawing/2014/main" id="{79072895-0DD0-48F1-8A92-9B999EC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ANTIDERIVATIVES</a:t>
            </a:r>
          </a:p>
        </p:txBody>
      </p:sp>
      <p:sp>
        <p:nvSpPr>
          <p:cNvPr id="8" name="title.11">
            <a:extLst xmlns:a="http://schemas.openxmlformats.org/drawingml/2006/main">
              <a:ext uri="{FF2B5EF4-FFF2-40B4-BE49-F238E27FC236}">
                <a16:creationId xmlns:a16="http://schemas.microsoft.com/office/drawing/2014/main" id="{7B31492C-414A-4AA2-BE6B-68805F2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Power Rule Backwards</a:t>
            </a:r>
          </a:p>
        </p:txBody>
      </p:sp>
      <p:sp>
        <p:nvSpPr>
          <p:cNvPr id="9" name="subtitle.11">
            <a:extLst xmlns:a="http://schemas.openxmlformats.org/drawingml/2006/main">
              <a:ext uri="{FF2B5EF4-FFF2-40B4-BE49-F238E27FC236}">
                <a16:creationId xmlns:a16="http://schemas.microsoft.com/office/drawing/2014/main" id="{2714EE5C-3D56-4F4B-BB4C-84FF4B0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Increase the exponent, then divide by the new exponent.</a:t>
            </a:r>
          </a:p>
        </p:txBody>
      </p:sp>
      <p:sp>
        <p:nvSpPr>
          <p:cNvPr id="10" name="formulaCard.11">
            <a:extLst xmlns:a="http://schemas.openxmlformats.org/drawingml/2006/main">
              <a:ext uri="{FF2B5EF4-FFF2-40B4-BE49-F238E27FC236}">
                <a16:creationId xmlns:a16="http://schemas.microsoft.com/office/drawing/2014/main" id="{F36BE3D6-0C07-4FC1-B03B-92C58FDD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1">
            <a:extLst xmlns:a="http://schemas.openxmlformats.org/drawingml/2006/main">
              <a:ext uri="{FF2B5EF4-FFF2-40B4-BE49-F238E27FC236}">
                <a16:creationId xmlns:a16="http://schemas.microsoft.com/office/drawing/2014/main" id="{EDE2E85D-2EE4-488F-AFEB-02A637F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∫x^n dx = x^{n+1}/(n+1)+C, n≠-1</a:t>
            </a:r>
          </a:p>
        </p:txBody>
      </p:sp>
      <p:sp>
        <p:nvSpPr>
          <p:cNvPr id="12" name="bullets.11">
            <a:extLst xmlns:a="http://schemas.openxmlformats.org/drawingml/2006/main">
              <a:ext uri="{FF2B5EF4-FFF2-40B4-BE49-F238E27FC236}">
                <a16:creationId xmlns:a16="http://schemas.microsoft.com/office/drawing/2014/main" id="{4C5EF3BE-5EE7-4C5F-81FA-074835AB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exponent n=-1 is the logarithm exception.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Constants multiply through.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Indefinite integrals need +C.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Check your answer by differentiating.</a:t>
            </a:r>
          </a:p>
        </p:txBody>
      </p:sp>
      <p:sp>
        <p:nvSpPr>
          <p:cNvPr id="13" name="iconCard.11">
            <a:extLst xmlns:a="http://schemas.openxmlformats.org/drawingml/2006/main">
              <a:ext uri="{FF2B5EF4-FFF2-40B4-BE49-F238E27FC236}">
                <a16:creationId xmlns:a16="http://schemas.microsoft.com/office/drawing/2014/main" id="{9ABF676E-B861-427D-95F7-1935500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1">
            <a:extLst xmlns:a="http://schemas.openxmlformats.org/drawingml/2006/main">
              <a:ext uri="{FF2B5EF4-FFF2-40B4-BE49-F238E27FC236}">
                <a16:creationId xmlns:a16="http://schemas.microsoft.com/office/drawing/2014/main" id="{BA19F2F2-97C9-4779-B076-277B133C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📐</a:t>
            </a:r>
          </a:p>
        </p:txBody>
      </p:sp>
      <p:sp>
        <p:nvSpPr>
          <p:cNvPr id="15" name="theme.11">
            <a:extLst xmlns:a="http://schemas.openxmlformats.org/drawingml/2006/main">
              <a:ext uri="{FF2B5EF4-FFF2-40B4-BE49-F238E27FC236}">
                <a16:creationId xmlns:a16="http://schemas.microsoft.com/office/drawing/2014/main" id="{67DB4099-0130-4EB9-8B0F-10C529C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Mickey's Math</a:t>
            </a:r>
          </a:p>
        </p:txBody>
      </p:sp>
      <p:sp>
        <p:nvSpPr>
          <p:cNvPr id="16" name="exampleCard.11">
            <a:extLst xmlns:a="http://schemas.openxmlformats.org/drawingml/2006/main">
              <a:ext uri="{FF2B5EF4-FFF2-40B4-BE49-F238E27FC236}">
                <a16:creationId xmlns:a16="http://schemas.microsoft.com/office/drawing/2014/main" id="{EB453BE1-2DB9-42B1-8A50-0EC395A7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1">
            <a:extLst xmlns:a="http://schemas.openxmlformats.org/drawingml/2006/main">
              <a:ext uri="{FF2B5EF4-FFF2-40B4-BE49-F238E27FC236}">
                <a16:creationId xmlns:a16="http://schemas.microsoft.com/office/drawing/2014/main" id="{CE4D132D-31A7-42C4-84A7-B46DD39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∫(8x^3-6x)dx = 2x^4-3x^2+C.</a:t>
            </a:r>
          </a:p>
        </p:txBody>
      </p:sp>
      <p:sp>
        <p:nvSpPr>
          <p:cNvPr id="18" name="notes.11">
            <a:extLst xmlns:a="http://schemas.openxmlformats.org/drawingml/2006/main">
              <a:ext uri="{FF2B5EF4-FFF2-40B4-BE49-F238E27FC236}">
                <a16:creationId xmlns:a16="http://schemas.microsoft.com/office/drawing/2014/main" id="{06D484DE-15E0-452F-9365-5C54DA8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Ask students why n=-1 cannot use the same formula.</a:t>
            </a:r>
          </a:p>
        </p:txBody>
      </p:sp>
      <p:sp>
        <p:nvSpPr>
          <p:cNvPr id="19" name="footerLine.11">
            <a:extLst xmlns:a="http://schemas.openxmlformats.org/drawingml/2006/main">
              <a:ext uri="{FF2B5EF4-FFF2-40B4-BE49-F238E27FC236}">
                <a16:creationId xmlns:a16="http://schemas.microsoft.com/office/drawing/2014/main" id="{3EFED539-DE23-44B8-B4E9-612ABC9D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1">
            <a:extLst xmlns:a="http://schemas.openxmlformats.org/drawingml/2006/main">
              <a:ext uri="{FF2B5EF4-FFF2-40B4-BE49-F238E27FC236}">
                <a16:creationId xmlns:a16="http://schemas.microsoft.com/office/drawing/2014/main" id="{2E187BFF-9A78-430F-B247-46B976B1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1">
            <a:extLst xmlns:a="http://schemas.openxmlformats.org/drawingml/2006/main">
              <a:ext uri="{FF2B5EF4-FFF2-40B4-BE49-F238E27FC236}">
                <a16:creationId xmlns:a16="http://schemas.microsoft.com/office/drawing/2014/main" id="{C70F6EC1-6D18-4EBA-9365-63D14CB8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12/30</a:t>
            </a:r>
          </a:p>
        </p:txBody>
      </p:sp>
    </p:spTree>
    <p:extLst>
      <p:ext uri="{BB962C8B-B14F-4D97-AF65-F5344CB8AC3E}">
        <p14:creationId xmlns:p14="http://schemas.microsoft.com/office/powerpoint/2010/main" val="887992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2">
            <a:extLst xmlns:a="http://schemas.openxmlformats.org/drawingml/2006/main">
              <a:ext uri="{FF2B5EF4-FFF2-40B4-BE49-F238E27FC236}">
                <a16:creationId xmlns:a16="http://schemas.microsoft.com/office/drawing/2014/main" id="{40C8DDBC-6CFA-4E75-9789-60C7BDA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2">
            <a:extLst xmlns:a="http://schemas.openxmlformats.org/drawingml/2006/main">
              <a:ext uri="{FF2B5EF4-FFF2-40B4-BE49-F238E27FC236}">
                <a16:creationId xmlns:a16="http://schemas.microsoft.com/office/drawing/2014/main" id="{E163463E-6361-4EC4-A37A-77EE35A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12">
            <a:extLst xmlns:a="http://schemas.openxmlformats.org/drawingml/2006/main">
              <a:ext uri="{FF2B5EF4-FFF2-40B4-BE49-F238E27FC236}">
                <a16:creationId xmlns:a16="http://schemas.microsoft.com/office/drawing/2014/main" id="{375877AC-00CB-4E5F-BD7A-0E1C90B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12">
            <a:extLst xmlns:a="http://schemas.openxmlformats.org/drawingml/2006/main">
              <a:ext uri="{FF2B5EF4-FFF2-40B4-BE49-F238E27FC236}">
                <a16:creationId xmlns:a16="http://schemas.microsoft.com/office/drawing/2014/main" id="{3EDD5696-039E-4669-AFD9-71C3D24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2">
            <a:extLst xmlns:a="http://schemas.openxmlformats.org/drawingml/2006/main">
              <a:ext uri="{FF2B5EF4-FFF2-40B4-BE49-F238E27FC236}">
                <a16:creationId xmlns:a16="http://schemas.microsoft.com/office/drawing/2014/main" id="{6220118C-B3C6-47CD-A259-17A71DE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2">
            <a:extLst xmlns:a="http://schemas.openxmlformats.org/drawingml/2006/main">
              <a:ext uri="{FF2B5EF4-FFF2-40B4-BE49-F238E27FC236}">
                <a16:creationId xmlns:a16="http://schemas.microsoft.com/office/drawing/2014/main" id="{B4CC8D86-DE39-4BA0-9779-12DAFB61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2">
            <a:extLst xmlns:a="http://schemas.openxmlformats.org/drawingml/2006/main">
              <a:ext uri="{FF2B5EF4-FFF2-40B4-BE49-F238E27FC236}">
                <a16:creationId xmlns:a16="http://schemas.microsoft.com/office/drawing/2014/main" id="{6C89BB70-25AA-487A-9539-7393AA8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BASIC RULES</a:t>
            </a:r>
          </a:p>
        </p:txBody>
      </p:sp>
      <p:sp>
        <p:nvSpPr>
          <p:cNvPr id="8" name="title.12">
            <a:extLst xmlns:a="http://schemas.openxmlformats.org/drawingml/2006/main">
              <a:ext uri="{FF2B5EF4-FFF2-40B4-BE49-F238E27FC236}">
                <a16:creationId xmlns:a16="http://schemas.microsoft.com/office/drawing/2014/main" id="{70A8C117-C43A-4E62-B6BB-D19027E2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Essential Antiderivative Toolbox</a:t>
            </a:r>
          </a:p>
        </p:txBody>
      </p:sp>
      <p:sp>
        <p:nvSpPr>
          <p:cNvPr id="9" name="subtitle.12">
            <a:extLst xmlns:a="http://schemas.openxmlformats.org/drawingml/2006/main">
              <a:ext uri="{FF2B5EF4-FFF2-40B4-BE49-F238E27FC236}">
                <a16:creationId xmlns:a16="http://schemas.microsoft.com/office/drawing/2014/main" id="{005BC649-2193-4236-9AA2-9F2D8A53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Recognize the basic families quickly.</a:t>
            </a:r>
          </a:p>
        </p:txBody>
      </p:sp>
      <p:sp>
        <p:nvSpPr>
          <p:cNvPr id="10" name="formulaCard.12">
            <a:extLst xmlns:a="http://schemas.openxmlformats.org/drawingml/2006/main">
              <a:ext uri="{FF2B5EF4-FFF2-40B4-BE49-F238E27FC236}">
                <a16:creationId xmlns:a16="http://schemas.microsoft.com/office/drawing/2014/main" id="{7D1765F0-75E4-4AA6-88DB-5A5E6966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12">
            <a:extLst xmlns:a="http://schemas.openxmlformats.org/drawingml/2006/main">
              <a:ext uri="{FF2B5EF4-FFF2-40B4-BE49-F238E27FC236}">
                <a16:creationId xmlns:a16="http://schemas.microsoft.com/office/drawing/2014/main" id="{C3AAB03D-260A-46D5-85D7-F31CDAA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∫e^x dx=e^x, ∫1/x dx=ln|x|, ∫cos x dx=sin x</a:t>
            </a:r>
          </a:p>
        </p:txBody>
      </p:sp>
      <p:sp>
        <p:nvSpPr>
          <p:cNvPr id="12" name="bullets.12">
            <a:extLst xmlns:a="http://schemas.openxmlformats.org/drawingml/2006/main">
              <a:ext uri="{FF2B5EF4-FFF2-40B4-BE49-F238E27FC236}">
                <a16:creationId xmlns:a16="http://schemas.microsoft.com/office/drawing/2014/main" id="{0C45D85F-3D4B-4C86-BCAA-7D8BC0F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Exponential functions often stay the same.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Reciprocal linear patterns often produce logarithms.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Trig integrals require sign discipline.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Inverse trig forms appear after completing the square.</a:t>
            </a:r>
          </a:p>
        </p:txBody>
      </p:sp>
      <p:sp>
        <p:nvSpPr>
          <p:cNvPr id="13" name="iconCard.12">
            <a:extLst xmlns:a="http://schemas.openxmlformats.org/drawingml/2006/main">
              <a:ext uri="{FF2B5EF4-FFF2-40B4-BE49-F238E27FC236}">
                <a16:creationId xmlns:a16="http://schemas.microsoft.com/office/drawing/2014/main" id="{C8986038-5E9F-4BC2-815E-F097418C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12">
            <a:extLst xmlns:a="http://schemas.openxmlformats.org/drawingml/2006/main">
              <a:ext uri="{FF2B5EF4-FFF2-40B4-BE49-F238E27FC236}">
                <a16:creationId xmlns:a16="http://schemas.microsoft.com/office/drawing/2014/main" id="{BCDD99A1-9B30-4656-AF19-98E1358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12">
            <a:extLst xmlns:a="http://schemas.openxmlformats.org/drawingml/2006/main">
              <a:ext uri="{FF2B5EF4-FFF2-40B4-BE49-F238E27FC236}">
                <a16:creationId xmlns:a16="http://schemas.microsoft.com/office/drawing/2014/main" id="{8A01DE0F-D093-4253-ABE4-DDA1E9D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 Forests</a:t>
            </a:r>
          </a:p>
        </p:txBody>
      </p:sp>
      <p:sp>
        <p:nvSpPr>
          <p:cNvPr id="16" name="exampleCard.12">
            <a:extLst xmlns:a="http://schemas.openxmlformats.org/drawingml/2006/main">
              <a:ext uri="{FF2B5EF4-FFF2-40B4-BE49-F238E27FC236}">
                <a16:creationId xmlns:a16="http://schemas.microsoft.com/office/drawing/2014/main" id="{623F974A-85A2-4753-B681-B2B96B9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2">
            <a:extLst xmlns:a="http://schemas.openxmlformats.org/drawingml/2006/main">
              <a:ext uri="{FF2B5EF4-FFF2-40B4-BE49-F238E27FC236}">
                <a16:creationId xmlns:a16="http://schemas.microsoft.com/office/drawing/2014/main" id="{D9AE9BD5-079F-4607-86A6-6CB90E86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∫sin(3x)dx = -cos(3x)/3 + C.</a:t>
            </a:r>
          </a:p>
        </p:txBody>
      </p:sp>
      <p:sp>
        <p:nvSpPr>
          <p:cNvPr id="18" name="notes.12">
            <a:extLst xmlns:a="http://schemas.openxmlformats.org/drawingml/2006/main">
              <a:ext uri="{FF2B5EF4-FFF2-40B4-BE49-F238E27FC236}">
                <a16:creationId xmlns:a16="http://schemas.microsoft.com/office/drawing/2014/main" id="{88D02ABC-C480-411A-8350-AAC9E88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slide is the formula checkpoint before substitution.</a:t>
            </a:r>
          </a:p>
        </p:txBody>
      </p:sp>
      <p:sp>
        <p:nvSpPr>
          <p:cNvPr id="19" name="footerLine.12">
            <a:extLst xmlns:a="http://schemas.openxmlformats.org/drawingml/2006/main">
              <a:ext uri="{FF2B5EF4-FFF2-40B4-BE49-F238E27FC236}">
                <a16:creationId xmlns:a16="http://schemas.microsoft.com/office/drawing/2014/main" id="{BAB03995-48C1-4507-B98A-8EDCFAC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2">
            <a:extLst xmlns:a="http://schemas.openxmlformats.org/drawingml/2006/main">
              <a:ext uri="{FF2B5EF4-FFF2-40B4-BE49-F238E27FC236}">
                <a16:creationId xmlns:a16="http://schemas.microsoft.com/office/drawing/2014/main" id="{971FA7D2-828A-43C4-91CC-8C48EC9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2">
            <a:extLst xmlns:a="http://schemas.openxmlformats.org/drawingml/2006/main">
              <a:ext uri="{FF2B5EF4-FFF2-40B4-BE49-F238E27FC236}">
                <a16:creationId xmlns:a16="http://schemas.microsoft.com/office/drawing/2014/main" id="{93691DFC-40BA-47E9-9F7E-BDC01374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13/30</a:t>
            </a:r>
          </a:p>
        </p:txBody>
      </p:sp>
    </p:spTree>
    <p:extLst>
      <p:ext uri="{BB962C8B-B14F-4D97-AF65-F5344CB8AC3E}">
        <p14:creationId xmlns:p14="http://schemas.microsoft.com/office/powerpoint/2010/main" val="602948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3">
            <a:extLst xmlns:a="http://schemas.openxmlformats.org/drawingml/2006/main">
              <a:ext uri="{FF2B5EF4-FFF2-40B4-BE49-F238E27FC236}">
                <a16:creationId xmlns:a16="http://schemas.microsoft.com/office/drawing/2014/main" id="{EFE25ADB-5D7D-4EE1-BCDC-959BA0E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3">
            <a:extLst xmlns:a="http://schemas.openxmlformats.org/drawingml/2006/main">
              <a:ext uri="{FF2B5EF4-FFF2-40B4-BE49-F238E27FC236}">
                <a16:creationId xmlns:a16="http://schemas.microsoft.com/office/drawing/2014/main" id="{A3FA068D-D3D5-4807-9148-27FAB824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13">
            <a:extLst xmlns:a="http://schemas.openxmlformats.org/drawingml/2006/main">
              <a:ext uri="{FF2B5EF4-FFF2-40B4-BE49-F238E27FC236}">
                <a16:creationId xmlns:a16="http://schemas.microsoft.com/office/drawing/2014/main" id="{B8BCC99D-DF7D-46E8-9F66-46AD465A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3">
            <a:extLst xmlns:a="http://schemas.openxmlformats.org/drawingml/2006/main">
              <a:ext uri="{FF2B5EF4-FFF2-40B4-BE49-F238E27FC236}">
                <a16:creationId xmlns:a16="http://schemas.microsoft.com/office/drawing/2014/main" id="{F30EFD9B-E2BC-4B85-85D6-534F38A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3">
            <a:extLst xmlns:a="http://schemas.openxmlformats.org/drawingml/2006/main">
              <a:ext uri="{FF2B5EF4-FFF2-40B4-BE49-F238E27FC236}">
                <a16:creationId xmlns:a16="http://schemas.microsoft.com/office/drawing/2014/main" id="{0B2C1C24-8C26-4114-8F6D-882AA0E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3">
            <a:extLst xmlns:a="http://schemas.openxmlformats.org/drawingml/2006/main">
              <a:ext uri="{FF2B5EF4-FFF2-40B4-BE49-F238E27FC236}">
                <a16:creationId xmlns:a16="http://schemas.microsoft.com/office/drawing/2014/main" id="{6876F063-BB8F-4C70-B528-D834D396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3">
            <a:extLst xmlns:a="http://schemas.openxmlformats.org/drawingml/2006/main">
              <a:ext uri="{FF2B5EF4-FFF2-40B4-BE49-F238E27FC236}">
                <a16:creationId xmlns:a16="http://schemas.microsoft.com/office/drawing/2014/main" id="{914C153E-8D84-4BA9-BACC-9F177ED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SUBSTITUTION</a:t>
            </a:r>
          </a:p>
        </p:txBody>
      </p:sp>
      <p:sp>
        <p:nvSpPr>
          <p:cNvPr id="8" name="title.13">
            <a:extLst xmlns:a="http://schemas.openxmlformats.org/drawingml/2006/main">
              <a:ext uri="{FF2B5EF4-FFF2-40B4-BE49-F238E27FC236}">
                <a16:creationId xmlns:a16="http://schemas.microsoft.com/office/drawing/2014/main" id="{AD607D8B-BD7E-46FC-8655-CC57F1D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u-Substitution</a:t>
            </a:r>
          </a:p>
        </p:txBody>
      </p:sp>
      <p:sp>
        <p:nvSpPr>
          <p:cNvPr id="9" name="subtitle.13">
            <a:extLst xmlns:a="http://schemas.openxmlformats.org/drawingml/2006/main">
              <a:ext uri="{FF2B5EF4-FFF2-40B4-BE49-F238E27FC236}">
                <a16:creationId xmlns:a16="http://schemas.microsoft.com/office/drawing/2014/main" id="{A6D45D7A-C63A-44AA-847B-7EB496E0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substitution when a derivative is hiding inside the integrand.</a:t>
            </a:r>
          </a:p>
        </p:txBody>
      </p:sp>
      <p:sp>
        <p:nvSpPr>
          <p:cNvPr id="10" name="formulaCard.13">
            <a:extLst xmlns:a="http://schemas.openxmlformats.org/drawingml/2006/main">
              <a:ext uri="{FF2B5EF4-FFF2-40B4-BE49-F238E27FC236}">
                <a16:creationId xmlns:a16="http://schemas.microsoft.com/office/drawing/2014/main" id="{D3BB6A6A-D6DB-4DEF-BA46-B87D73B6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3">
            <a:extLst xmlns:a="http://schemas.openxmlformats.org/drawingml/2006/main">
              <a:ext uri="{FF2B5EF4-FFF2-40B4-BE49-F238E27FC236}">
                <a16:creationId xmlns:a16="http://schemas.microsoft.com/office/drawing/2014/main" id="{F1B862E3-4C86-462D-AA3F-B6C0DA7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u=g(x), du=g'(x)dx</a:t>
            </a:r>
          </a:p>
        </p:txBody>
      </p:sp>
      <p:sp>
        <p:nvSpPr>
          <p:cNvPr id="12" name="bullets.13">
            <a:extLst xmlns:a="http://schemas.openxmlformats.org/drawingml/2006/main">
              <a:ext uri="{FF2B5EF4-FFF2-40B4-BE49-F238E27FC236}">
                <a16:creationId xmlns:a16="http://schemas.microsoft.com/office/drawing/2014/main" id="{1C2AEC6D-2E3A-4625-94BB-1888EF8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Look for an inside function and its derivative.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Rewrite the integral fully in terms of u.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Integrate with respect to u.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Substitute x back unless the problem is definite and you changed bounds.</a:t>
            </a:r>
          </a:p>
        </p:txBody>
      </p:sp>
      <p:sp>
        <p:nvSpPr>
          <p:cNvPr id="13" name="iconCard.13">
            <a:extLst xmlns:a="http://schemas.openxmlformats.org/drawingml/2006/main">
              <a:ext uri="{FF2B5EF4-FFF2-40B4-BE49-F238E27FC236}">
                <a16:creationId xmlns:a16="http://schemas.microsoft.com/office/drawing/2014/main" id="{B50D2F5F-0246-4CC4-A3FD-678AC1C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3">
            <a:extLst xmlns:a="http://schemas.openxmlformats.org/drawingml/2006/main">
              <a:ext uri="{FF2B5EF4-FFF2-40B4-BE49-F238E27FC236}">
                <a16:creationId xmlns:a16="http://schemas.microsoft.com/office/drawing/2014/main" id="{EE2E5A66-2BA7-4101-99F9-CCE9986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13">
            <a:extLst xmlns:a="http://schemas.openxmlformats.org/drawingml/2006/main">
              <a:ext uri="{FF2B5EF4-FFF2-40B4-BE49-F238E27FC236}">
                <a16:creationId xmlns:a16="http://schemas.microsoft.com/office/drawing/2014/main" id="{3EF56F44-881E-44F3-9D20-B6F41EE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Ratatouille Recipe</a:t>
            </a:r>
          </a:p>
        </p:txBody>
      </p:sp>
      <p:sp>
        <p:nvSpPr>
          <p:cNvPr id="16" name="exampleCard.13">
            <a:extLst xmlns:a="http://schemas.openxmlformats.org/drawingml/2006/main">
              <a:ext uri="{FF2B5EF4-FFF2-40B4-BE49-F238E27FC236}">
                <a16:creationId xmlns:a16="http://schemas.microsoft.com/office/drawing/2014/main" id="{16822A4B-6A77-4319-A0CD-605B254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3">
            <a:extLst xmlns:a="http://schemas.openxmlformats.org/drawingml/2006/main">
              <a:ext uri="{FF2B5EF4-FFF2-40B4-BE49-F238E27FC236}">
                <a16:creationId xmlns:a16="http://schemas.microsoft.com/office/drawing/2014/main" id="{38E9E72E-F14C-474E-8032-0D54AF1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∫(6x+2)(3x^2+2x-1)^5dx = (3x^2+2x-1)^6/6+C.</a:t>
            </a:r>
          </a:p>
        </p:txBody>
      </p:sp>
      <p:sp>
        <p:nvSpPr>
          <p:cNvPr id="18" name="notes.13">
            <a:extLst xmlns:a="http://schemas.openxmlformats.org/drawingml/2006/main">
              <a:ext uri="{FF2B5EF4-FFF2-40B4-BE49-F238E27FC236}">
                <a16:creationId xmlns:a16="http://schemas.microsoft.com/office/drawing/2014/main" id="{52B428D7-87E5-49A9-9B8A-34AB68F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phrase 'derivative is already there' is the student-friendly test.</a:t>
            </a:r>
          </a:p>
        </p:txBody>
      </p:sp>
      <p:sp>
        <p:nvSpPr>
          <p:cNvPr id="19" name="footerLine.13">
            <a:extLst xmlns:a="http://schemas.openxmlformats.org/drawingml/2006/main">
              <a:ext uri="{FF2B5EF4-FFF2-40B4-BE49-F238E27FC236}">
                <a16:creationId xmlns:a16="http://schemas.microsoft.com/office/drawing/2014/main" id="{4F303494-F321-4E39-9821-19C31E2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3">
            <a:extLst xmlns:a="http://schemas.openxmlformats.org/drawingml/2006/main">
              <a:ext uri="{FF2B5EF4-FFF2-40B4-BE49-F238E27FC236}">
                <a16:creationId xmlns:a16="http://schemas.microsoft.com/office/drawing/2014/main" id="{6D266BB9-40A3-4819-9655-43C9D94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3">
            <a:extLst xmlns:a="http://schemas.openxmlformats.org/drawingml/2006/main">
              <a:ext uri="{FF2B5EF4-FFF2-40B4-BE49-F238E27FC236}">
                <a16:creationId xmlns:a16="http://schemas.microsoft.com/office/drawing/2014/main" id="{37CD01D3-12B1-4D12-972C-05F074CD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14/30</a:t>
            </a:r>
          </a:p>
        </p:txBody>
      </p:sp>
    </p:spTree>
    <p:extLst>
      <p:ext uri="{BB962C8B-B14F-4D97-AF65-F5344CB8AC3E}">
        <p14:creationId xmlns:p14="http://schemas.microsoft.com/office/powerpoint/2010/main" val="19424598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4">
            <a:extLst xmlns:a="http://schemas.openxmlformats.org/drawingml/2006/main">
              <a:ext uri="{FF2B5EF4-FFF2-40B4-BE49-F238E27FC236}">
                <a16:creationId xmlns:a16="http://schemas.microsoft.com/office/drawing/2014/main" id="{B1C17183-3478-4027-BCF6-27C1342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4">
            <a:extLst xmlns:a="http://schemas.openxmlformats.org/drawingml/2006/main">
              <a:ext uri="{FF2B5EF4-FFF2-40B4-BE49-F238E27FC236}">
                <a16:creationId xmlns:a16="http://schemas.microsoft.com/office/drawing/2014/main" id="{86106FC2-552C-444F-84B0-0C9585A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14">
            <a:extLst xmlns:a="http://schemas.openxmlformats.org/drawingml/2006/main">
              <a:ext uri="{FF2B5EF4-FFF2-40B4-BE49-F238E27FC236}">
                <a16:creationId xmlns:a16="http://schemas.microsoft.com/office/drawing/2014/main" id="{689EEF8E-F4B3-459F-855B-BE0280F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14">
            <a:extLst xmlns:a="http://schemas.openxmlformats.org/drawingml/2006/main">
              <a:ext uri="{FF2B5EF4-FFF2-40B4-BE49-F238E27FC236}">
                <a16:creationId xmlns:a16="http://schemas.microsoft.com/office/drawing/2014/main" id="{AE5120E0-2816-4A62-A10D-6276F2E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4">
            <a:extLst xmlns:a="http://schemas.openxmlformats.org/drawingml/2006/main">
              <a:ext uri="{FF2B5EF4-FFF2-40B4-BE49-F238E27FC236}">
                <a16:creationId xmlns:a16="http://schemas.microsoft.com/office/drawing/2014/main" id="{92971092-8BCA-43B7-AC0F-908375FA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4">
            <a:extLst xmlns:a="http://schemas.openxmlformats.org/drawingml/2006/main">
              <a:ext uri="{FF2B5EF4-FFF2-40B4-BE49-F238E27FC236}">
                <a16:creationId xmlns:a16="http://schemas.microsoft.com/office/drawing/2014/main" id="{50E34EDC-675D-4A39-8D4D-54ECCA90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4">
            <a:extLst xmlns:a="http://schemas.openxmlformats.org/drawingml/2006/main">
              <a:ext uri="{FF2B5EF4-FFF2-40B4-BE49-F238E27FC236}">
                <a16:creationId xmlns:a16="http://schemas.microsoft.com/office/drawing/2014/main" id="{2DEA68DF-9BBF-463A-B58F-F032499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SUBSTITUTION</a:t>
            </a:r>
          </a:p>
        </p:txBody>
      </p:sp>
      <p:sp>
        <p:nvSpPr>
          <p:cNvPr id="8" name="title.14">
            <a:extLst xmlns:a="http://schemas.openxmlformats.org/drawingml/2006/main">
              <a:ext uri="{FF2B5EF4-FFF2-40B4-BE49-F238E27FC236}">
                <a16:creationId xmlns:a16="http://schemas.microsoft.com/office/drawing/2014/main" id="{A721CD96-ECCB-4616-A0A1-83B50C5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Definite u-Substitution</a:t>
            </a:r>
          </a:p>
        </p:txBody>
      </p:sp>
      <p:sp>
        <p:nvSpPr>
          <p:cNvPr id="9" name="subtitle.14">
            <a:extLst xmlns:a="http://schemas.openxmlformats.org/drawingml/2006/main">
              <a:ext uri="{FF2B5EF4-FFF2-40B4-BE49-F238E27FC236}">
                <a16:creationId xmlns:a16="http://schemas.microsoft.com/office/drawing/2014/main" id="{DCCE2BCC-21E7-4FAD-9781-D5576238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Change the bounds or substitute back before evaluating.</a:t>
            </a:r>
          </a:p>
        </p:txBody>
      </p:sp>
      <p:sp>
        <p:nvSpPr>
          <p:cNvPr id="10" name="formulaCard.14">
            <a:extLst xmlns:a="http://schemas.openxmlformats.org/drawingml/2006/main">
              <a:ext uri="{FF2B5EF4-FFF2-40B4-BE49-F238E27FC236}">
                <a16:creationId xmlns:a16="http://schemas.microsoft.com/office/drawing/2014/main" id="{E032E4A7-B356-43D7-B26E-5B9D50C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14">
            <a:extLst xmlns:a="http://schemas.openxmlformats.org/drawingml/2006/main">
              <a:ext uri="{FF2B5EF4-FFF2-40B4-BE49-F238E27FC236}">
                <a16:creationId xmlns:a16="http://schemas.microsoft.com/office/drawing/2014/main" id="{77D24807-15EA-4CAA-8E0E-CE41132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∫_a^b f(g(x))g'(x)dx = ∫_{g(a)}^{g(b)} f(u)du</a:t>
            </a:r>
          </a:p>
        </p:txBody>
      </p:sp>
      <p:sp>
        <p:nvSpPr>
          <p:cNvPr id="12" name="bullets.14">
            <a:extLst xmlns:a="http://schemas.openxmlformats.org/drawingml/2006/main">
              <a:ext uri="{FF2B5EF4-FFF2-40B4-BE49-F238E27FC236}">
                <a16:creationId xmlns:a16="http://schemas.microsoft.com/office/drawing/2014/main" id="{32EC165E-BD57-4F85-973A-46ED435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Changing bounds keeps everything in u.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Substituting back means you keep original x-bounds.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Do not mix u-bounds with x-expressions.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This is one of the most common notation mistakes.</a:t>
            </a:r>
          </a:p>
        </p:txBody>
      </p:sp>
      <p:sp>
        <p:nvSpPr>
          <p:cNvPr id="13" name="iconCard.14">
            <a:extLst xmlns:a="http://schemas.openxmlformats.org/drawingml/2006/main">
              <a:ext uri="{FF2B5EF4-FFF2-40B4-BE49-F238E27FC236}">
                <a16:creationId xmlns:a16="http://schemas.microsoft.com/office/drawing/2014/main" id="{E6EB56F4-13C8-4278-8DD2-00C7EA75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14">
            <a:extLst xmlns:a="http://schemas.openxmlformats.org/drawingml/2006/main">
              <a:ext uri="{FF2B5EF4-FFF2-40B4-BE49-F238E27FC236}">
                <a16:creationId xmlns:a16="http://schemas.microsoft.com/office/drawing/2014/main" id="{C5549C2D-9E2E-4EAE-9D5F-BD0CF1D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14">
            <a:extLst xmlns:a="http://schemas.openxmlformats.org/drawingml/2006/main">
              <a:ext uri="{FF2B5EF4-FFF2-40B4-BE49-F238E27FC236}">
                <a16:creationId xmlns:a16="http://schemas.microsoft.com/office/drawing/2014/main" id="{9F4586F9-F24F-411E-9030-EC09E04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Castle Chain Rule</a:t>
            </a:r>
          </a:p>
        </p:txBody>
      </p:sp>
      <p:sp>
        <p:nvSpPr>
          <p:cNvPr id="16" name="exampleCard.14">
            <a:extLst xmlns:a="http://schemas.openxmlformats.org/drawingml/2006/main">
              <a:ext uri="{FF2B5EF4-FFF2-40B4-BE49-F238E27FC236}">
                <a16:creationId xmlns:a16="http://schemas.microsoft.com/office/drawing/2014/main" id="{A3A121B8-B6FF-498B-BCA2-0EC6968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4">
            <a:extLst xmlns:a="http://schemas.openxmlformats.org/drawingml/2006/main">
              <a:ext uri="{FF2B5EF4-FFF2-40B4-BE49-F238E27FC236}">
                <a16:creationId xmlns:a16="http://schemas.microsoft.com/office/drawing/2014/main" id="{35678E63-4DA7-4F9C-BDCA-B7CC448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∫_0^1 2x(x^2+5)^4dx = ∫_5^6 u^4du.</a:t>
            </a:r>
          </a:p>
        </p:txBody>
      </p:sp>
      <p:sp>
        <p:nvSpPr>
          <p:cNvPr id="18" name="notes.14">
            <a:extLst xmlns:a="http://schemas.openxmlformats.org/drawingml/2006/main">
              <a:ext uri="{FF2B5EF4-FFF2-40B4-BE49-F238E27FC236}">
                <a16:creationId xmlns:a16="http://schemas.microsoft.com/office/drawing/2014/main" id="{162939CE-A4B9-4962-AD13-971FEFF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Make students choose one path and stick to it.</a:t>
            </a:r>
          </a:p>
        </p:txBody>
      </p:sp>
      <p:sp>
        <p:nvSpPr>
          <p:cNvPr id="19" name="footerLine.14">
            <a:extLst xmlns:a="http://schemas.openxmlformats.org/drawingml/2006/main">
              <a:ext uri="{FF2B5EF4-FFF2-40B4-BE49-F238E27FC236}">
                <a16:creationId xmlns:a16="http://schemas.microsoft.com/office/drawing/2014/main" id="{47B66526-1F34-4732-B17D-54F5D75E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4">
            <a:extLst xmlns:a="http://schemas.openxmlformats.org/drawingml/2006/main">
              <a:ext uri="{FF2B5EF4-FFF2-40B4-BE49-F238E27FC236}">
                <a16:creationId xmlns:a16="http://schemas.microsoft.com/office/drawing/2014/main" id="{E468E4D8-AA7B-4667-8D95-5974510C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4">
            <a:extLst xmlns:a="http://schemas.openxmlformats.org/drawingml/2006/main">
              <a:ext uri="{FF2B5EF4-FFF2-40B4-BE49-F238E27FC236}">
                <a16:creationId xmlns:a16="http://schemas.microsoft.com/office/drawing/2014/main" id="{B3D65C01-2D16-4C62-8AC7-B0315539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15/30</a:t>
            </a:r>
          </a:p>
        </p:txBody>
      </p:sp>
    </p:spTree>
    <p:extLst>
      <p:ext uri="{BB962C8B-B14F-4D97-AF65-F5344CB8AC3E}">
        <p14:creationId xmlns:p14="http://schemas.microsoft.com/office/powerpoint/2010/main" val="1764260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5">
            <a:extLst xmlns:a="http://schemas.openxmlformats.org/drawingml/2006/main">
              <a:ext uri="{FF2B5EF4-FFF2-40B4-BE49-F238E27FC236}">
                <a16:creationId xmlns:a16="http://schemas.microsoft.com/office/drawing/2014/main" id="{BAC48E5C-DA40-4B74-8FD6-8644CCE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5">
            <a:extLst xmlns:a="http://schemas.openxmlformats.org/drawingml/2006/main">
              <a:ext uri="{FF2B5EF4-FFF2-40B4-BE49-F238E27FC236}">
                <a16:creationId xmlns:a16="http://schemas.microsoft.com/office/drawing/2014/main" id="{50655946-ADB8-48DB-A7D8-B8F92D8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15">
            <a:extLst xmlns:a="http://schemas.openxmlformats.org/drawingml/2006/main">
              <a:ext uri="{FF2B5EF4-FFF2-40B4-BE49-F238E27FC236}">
                <a16:creationId xmlns:a16="http://schemas.microsoft.com/office/drawing/2014/main" id="{482BC524-B62D-40EC-A10A-E2AC50F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5">
            <a:extLst xmlns:a="http://schemas.openxmlformats.org/drawingml/2006/main">
              <a:ext uri="{FF2B5EF4-FFF2-40B4-BE49-F238E27FC236}">
                <a16:creationId xmlns:a16="http://schemas.microsoft.com/office/drawing/2014/main" id="{E9773B53-4C17-46D6-AF6A-00237349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5">
            <a:extLst xmlns:a="http://schemas.openxmlformats.org/drawingml/2006/main">
              <a:ext uri="{FF2B5EF4-FFF2-40B4-BE49-F238E27FC236}">
                <a16:creationId xmlns:a16="http://schemas.microsoft.com/office/drawing/2014/main" id="{ED60843A-C9C2-4DD2-9117-ED4EF83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5">
            <a:extLst xmlns:a="http://schemas.openxmlformats.org/drawingml/2006/main">
              <a:ext uri="{FF2B5EF4-FFF2-40B4-BE49-F238E27FC236}">
                <a16:creationId xmlns:a16="http://schemas.microsoft.com/office/drawing/2014/main" id="{22605F8E-CDB3-4ED7-96F1-C1980EE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5">
            <a:extLst xmlns:a="http://schemas.openxmlformats.org/drawingml/2006/main">
              <a:ext uri="{FF2B5EF4-FFF2-40B4-BE49-F238E27FC236}">
                <a16:creationId xmlns:a16="http://schemas.microsoft.com/office/drawing/2014/main" id="{257CF1E2-6F2E-481B-AABB-1E548E4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8" name="title.15">
            <a:extLst xmlns:a="http://schemas.openxmlformats.org/drawingml/2006/main">
              <a:ext uri="{FF2B5EF4-FFF2-40B4-BE49-F238E27FC236}">
                <a16:creationId xmlns:a16="http://schemas.microsoft.com/office/drawing/2014/main" id="{18EC09EE-F4D5-4C5C-908F-D5CF5A47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Logarithmic Integrals</a:t>
            </a:r>
          </a:p>
        </p:txBody>
      </p:sp>
      <p:sp>
        <p:nvSpPr>
          <p:cNvPr id="9" name="subtitle.15">
            <a:extLst xmlns:a="http://schemas.openxmlformats.org/drawingml/2006/main">
              <a:ext uri="{FF2B5EF4-FFF2-40B4-BE49-F238E27FC236}">
                <a16:creationId xmlns:a16="http://schemas.microsoft.com/office/drawing/2014/main" id="{6A7BCD2B-AFF8-40BF-B13A-69529015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derivative of the denominator is the giveaway.</a:t>
            </a:r>
          </a:p>
        </p:txBody>
      </p:sp>
      <p:sp>
        <p:nvSpPr>
          <p:cNvPr id="10" name="formulaCard.15">
            <a:extLst xmlns:a="http://schemas.openxmlformats.org/drawingml/2006/main">
              <a:ext uri="{FF2B5EF4-FFF2-40B4-BE49-F238E27FC236}">
                <a16:creationId xmlns:a16="http://schemas.microsoft.com/office/drawing/2014/main" id="{097477BC-56F6-444A-A2C9-09FB2C04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5">
            <a:extLst xmlns:a="http://schemas.openxmlformats.org/drawingml/2006/main">
              <a:ext uri="{FF2B5EF4-FFF2-40B4-BE49-F238E27FC236}">
                <a16:creationId xmlns:a16="http://schemas.microsoft.com/office/drawing/2014/main" id="{42EFFBBE-7217-4368-8762-FF35489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 f'(x)/f(x) dx = ln|f(x)| + C</a:t>
            </a:r>
          </a:p>
        </p:txBody>
      </p:sp>
      <p:sp>
        <p:nvSpPr>
          <p:cNvPr id="12" name="bullets.15">
            <a:extLst xmlns:a="http://schemas.openxmlformats.org/drawingml/2006/main">
              <a:ext uri="{FF2B5EF4-FFF2-40B4-BE49-F238E27FC236}">
                <a16:creationId xmlns:a16="http://schemas.microsoft.com/office/drawing/2014/main" id="{D5B2ADE2-688C-452A-B275-B2EB39BC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Absolute value matters for real logarithms.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 constant multiple may need adjustment.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Linear denominators are common entry-level examples.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More complex rational functions may need partial fractions first.</a:t>
            </a:r>
          </a:p>
        </p:txBody>
      </p:sp>
      <p:sp>
        <p:nvSpPr>
          <p:cNvPr id="13" name="iconCard.15">
            <a:extLst xmlns:a="http://schemas.openxmlformats.org/drawingml/2006/main">
              <a:ext uri="{FF2B5EF4-FFF2-40B4-BE49-F238E27FC236}">
                <a16:creationId xmlns:a16="http://schemas.microsoft.com/office/drawing/2014/main" id="{6B8C178E-F50E-4EB3-ACCD-7F254CD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5">
            <a:extLst xmlns:a="http://schemas.openxmlformats.org/drawingml/2006/main">
              <a:ext uri="{FF2B5EF4-FFF2-40B4-BE49-F238E27FC236}">
                <a16:creationId xmlns:a16="http://schemas.microsoft.com/office/drawing/2014/main" id="{F6F7E632-79AA-47D4-A36B-764534A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🧭</a:t>
            </a:r>
          </a:p>
        </p:txBody>
      </p:sp>
      <p:sp>
        <p:nvSpPr>
          <p:cNvPr id="15" name="theme.15">
            <a:extLst xmlns:a="http://schemas.openxmlformats.org/drawingml/2006/main">
              <a:ext uri="{FF2B5EF4-FFF2-40B4-BE49-F238E27FC236}">
                <a16:creationId xmlns:a16="http://schemas.microsoft.com/office/drawing/2014/main" id="{0EB8C74E-6C1C-45A8-B78A-947B578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Jungle Cruise</a:t>
            </a:r>
          </a:p>
        </p:txBody>
      </p:sp>
      <p:sp>
        <p:nvSpPr>
          <p:cNvPr id="16" name="exampleCard.15">
            <a:extLst xmlns:a="http://schemas.openxmlformats.org/drawingml/2006/main">
              <a:ext uri="{FF2B5EF4-FFF2-40B4-BE49-F238E27FC236}">
                <a16:creationId xmlns:a16="http://schemas.microsoft.com/office/drawing/2014/main" id="{7921A569-627B-4589-B1DF-94B631C4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5">
            <a:extLst xmlns:a="http://schemas.openxmlformats.org/drawingml/2006/main">
              <a:ext uri="{FF2B5EF4-FFF2-40B4-BE49-F238E27FC236}">
                <a16:creationId xmlns:a16="http://schemas.microsoft.com/office/drawing/2014/main" id="{C24A18D2-83C7-445E-8D52-980C724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∫1/(x+4)dx = ln|x+4|+C.</a:t>
            </a:r>
          </a:p>
        </p:txBody>
      </p:sp>
      <p:sp>
        <p:nvSpPr>
          <p:cNvPr id="18" name="notes.15">
            <a:extLst xmlns:a="http://schemas.openxmlformats.org/drawingml/2006/main">
              <a:ext uri="{FF2B5EF4-FFF2-40B4-BE49-F238E27FC236}">
                <a16:creationId xmlns:a16="http://schemas.microsoft.com/office/drawing/2014/main" id="{2D1AD088-709B-4F6C-B85D-47D1055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Distinguish between plain log patterns and partial fraction patterns.</a:t>
            </a:r>
          </a:p>
        </p:txBody>
      </p:sp>
      <p:sp>
        <p:nvSpPr>
          <p:cNvPr id="19" name="footerLine.15">
            <a:extLst xmlns:a="http://schemas.openxmlformats.org/drawingml/2006/main">
              <a:ext uri="{FF2B5EF4-FFF2-40B4-BE49-F238E27FC236}">
                <a16:creationId xmlns:a16="http://schemas.microsoft.com/office/drawing/2014/main" id="{DA558B75-090C-49CB-8FD4-47B44E7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5">
            <a:extLst xmlns:a="http://schemas.openxmlformats.org/drawingml/2006/main">
              <a:ext uri="{FF2B5EF4-FFF2-40B4-BE49-F238E27FC236}">
                <a16:creationId xmlns:a16="http://schemas.microsoft.com/office/drawing/2014/main" id="{BDDBA2E4-E9CB-42B0-BF53-38D7384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5">
            <a:extLst xmlns:a="http://schemas.openxmlformats.org/drawingml/2006/main">
              <a:ext uri="{FF2B5EF4-FFF2-40B4-BE49-F238E27FC236}">
                <a16:creationId xmlns:a16="http://schemas.microsoft.com/office/drawing/2014/main" id="{1EB7DFA9-E29A-4168-8A3B-A3FE18D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16/30</a:t>
            </a:r>
          </a:p>
        </p:txBody>
      </p:sp>
    </p:spTree>
    <p:extLst>
      <p:ext uri="{BB962C8B-B14F-4D97-AF65-F5344CB8AC3E}">
        <p14:creationId xmlns:p14="http://schemas.microsoft.com/office/powerpoint/2010/main" val="5821126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6">
            <a:extLst xmlns:a="http://schemas.openxmlformats.org/drawingml/2006/main">
              <a:ext uri="{FF2B5EF4-FFF2-40B4-BE49-F238E27FC236}">
                <a16:creationId xmlns:a16="http://schemas.microsoft.com/office/drawing/2014/main" id="{FB2F326E-B120-4256-95D3-5FD393A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6">
            <a:extLst xmlns:a="http://schemas.openxmlformats.org/drawingml/2006/main">
              <a:ext uri="{FF2B5EF4-FFF2-40B4-BE49-F238E27FC236}">
                <a16:creationId xmlns:a16="http://schemas.microsoft.com/office/drawing/2014/main" id="{20BAD0A5-463D-49C9-98A0-6A3E027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16">
            <a:extLst xmlns:a="http://schemas.openxmlformats.org/drawingml/2006/main">
              <a:ext uri="{FF2B5EF4-FFF2-40B4-BE49-F238E27FC236}">
                <a16:creationId xmlns:a16="http://schemas.microsoft.com/office/drawing/2014/main" id="{D75C312D-414E-49D5-A475-D3901FF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16">
            <a:extLst xmlns:a="http://schemas.openxmlformats.org/drawingml/2006/main">
              <a:ext uri="{FF2B5EF4-FFF2-40B4-BE49-F238E27FC236}">
                <a16:creationId xmlns:a16="http://schemas.microsoft.com/office/drawing/2014/main" id="{C659DEB2-652B-42BC-B17A-5A4DFD4C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6">
            <a:extLst xmlns:a="http://schemas.openxmlformats.org/drawingml/2006/main">
              <a:ext uri="{FF2B5EF4-FFF2-40B4-BE49-F238E27FC236}">
                <a16:creationId xmlns:a16="http://schemas.microsoft.com/office/drawing/2014/main" id="{BD67FE78-81C2-4851-BCF7-64130CF7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6">
            <a:extLst xmlns:a="http://schemas.openxmlformats.org/drawingml/2006/main">
              <a:ext uri="{FF2B5EF4-FFF2-40B4-BE49-F238E27FC236}">
                <a16:creationId xmlns:a16="http://schemas.microsoft.com/office/drawing/2014/main" id="{B06064F3-BF2E-4DA0-9981-5D694929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6">
            <a:extLst xmlns:a="http://schemas.openxmlformats.org/drawingml/2006/main">
              <a:ext uri="{FF2B5EF4-FFF2-40B4-BE49-F238E27FC236}">
                <a16:creationId xmlns:a16="http://schemas.microsoft.com/office/drawing/2014/main" id="{E40119C6-A2E4-458D-8663-CE5AAFF1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INVERSE TRIG</a:t>
            </a:r>
          </a:p>
        </p:txBody>
      </p:sp>
      <p:sp>
        <p:nvSpPr>
          <p:cNvPr id="8" name="title.16">
            <a:extLst xmlns:a="http://schemas.openxmlformats.org/drawingml/2006/main">
              <a:ext uri="{FF2B5EF4-FFF2-40B4-BE49-F238E27FC236}">
                <a16:creationId xmlns:a16="http://schemas.microsoft.com/office/drawing/2014/main" id="{28DEE2C5-E5AF-4400-8442-AB42F6FD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Completing the Square</a:t>
            </a:r>
          </a:p>
        </p:txBody>
      </p:sp>
      <p:sp>
        <p:nvSpPr>
          <p:cNvPr id="9" name="subtitle.16">
            <a:extLst xmlns:a="http://schemas.openxmlformats.org/drawingml/2006/main">
              <a:ext uri="{FF2B5EF4-FFF2-40B4-BE49-F238E27FC236}">
                <a16:creationId xmlns:a16="http://schemas.microsoft.com/office/drawing/2014/main" id="{1827CB10-F493-43D2-8720-9DC4D65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Quadratics can become inverse tangent forms.</a:t>
            </a:r>
          </a:p>
        </p:txBody>
      </p:sp>
      <p:sp>
        <p:nvSpPr>
          <p:cNvPr id="10" name="formulaCard.16">
            <a:extLst xmlns:a="http://schemas.openxmlformats.org/drawingml/2006/main">
              <a:ext uri="{FF2B5EF4-FFF2-40B4-BE49-F238E27FC236}">
                <a16:creationId xmlns:a16="http://schemas.microsoft.com/office/drawing/2014/main" id="{734B98BC-CD28-4C3C-8B78-17C1A6E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16">
            <a:extLst xmlns:a="http://schemas.openxmlformats.org/drawingml/2006/main">
              <a:ext uri="{FF2B5EF4-FFF2-40B4-BE49-F238E27FC236}">
                <a16:creationId xmlns:a16="http://schemas.microsoft.com/office/drawing/2014/main" id="{09A58E3E-82DA-4C27-9712-E684935D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 dx/(u^2+a^2)=1/a arctan(u/a)+C</a:t>
            </a:r>
          </a:p>
        </p:txBody>
      </p:sp>
      <p:sp>
        <p:nvSpPr>
          <p:cNvPr id="12" name="bullets.16">
            <a:extLst xmlns:a="http://schemas.openxmlformats.org/drawingml/2006/main">
              <a:ext uri="{FF2B5EF4-FFF2-40B4-BE49-F238E27FC236}">
                <a16:creationId xmlns:a16="http://schemas.microsoft.com/office/drawing/2014/main" id="{02FC087E-91B2-46B0-B437-14CA96D8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Complete the square in the denominator.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Shift x into a new expression like x+2.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Match the denominator to u^2+a^2.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coefficient is 1/a, not a.</a:t>
            </a:r>
          </a:p>
        </p:txBody>
      </p:sp>
      <p:sp>
        <p:nvSpPr>
          <p:cNvPr id="13" name="iconCard.16">
            <a:extLst xmlns:a="http://schemas.openxmlformats.org/drawingml/2006/main">
              <a:ext uri="{FF2B5EF4-FFF2-40B4-BE49-F238E27FC236}">
                <a16:creationId xmlns:a16="http://schemas.microsoft.com/office/drawing/2014/main" id="{0DB32A8B-21C9-4A85-ADDF-F476B3C7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16">
            <a:extLst xmlns:a="http://schemas.openxmlformats.org/drawingml/2006/main">
              <a:ext uri="{FF2B5EF4-FFF2-40B4-BE49-F238E27FC236}">
                <a16:creationId xmlns:a16="http://schemas.microsoft.com/office/drawing/2014/main" id="{535F174E-8620-47D0-8AEB-E296725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🧭</a:t>
            </a:r>
          </a:p>
        </p:txBody>
      </p:sp>
      <p:sp>
        <p:nvSpPr>
          <p:cNvPr id="15" name="theme.16">
            <a:extLst xmlns:a="http://schemas.openxmlformats.org/drawingml/2006/main">
              <a:ext uri="{FF2B5EF4-FFF2-40B4-BE49-F238E27FC236}">
                <a16:creationId xmlns:a16="http://schemas.microsoft.com/office/drawing/2014/main" id="{7D47EC04-68BC-4DE4-A2EC-0CFFFFD4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Moana Wayfinder</a:t>
            </a:r>
          </a:p>
        </p:txBody>
      </p:sp>
      <p:sp>
        <p:nvSpPr>
          <p:cNvPr id="16" name="exampleCard.16">
            <a:extLst xmlns:a="http://schemas.openxmlformats.org/drawingml/2006/main">
              <a:ext uri="{FF2B5EF4-FFF2-40B4-BE49-F238E27FC236}">
                <a16:creationId xmlns:a16="http://schemas.microsoft.com/office/drawing/2014/main" id="{EF85EFCC-E79C-4497-A642-50F416BA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6">
            <a:extLst xmlns:a="http://schemas.openxmlformats.org/drawingml/2006/main">
              <a:ext uri="{FF2B5EF4-FFF2-40B4-BE49-F238E27FC236}">
                <a16:creationId xmlns:a16="http://schemas.microsoft.com/office/drawing/2014/main" id="{8BFD257A-3A28-4CE7-9E5D-E903B24D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x^2+4x+8=(x+2)^2+4, so ∫dx/(x^2+4x+8)=1/2 arctan((x+2)/2)+C.</a:t>
            </a:r>
          </a:p>
        </p:txBody>
      </p:sp>
      <p:sp>
        <p:nvSpPr>
          <p:cNvPr id="18" name="notes.16">
            <a:extLst xmlns:a="http://schemas.openxmlformats.org/drawingml/2006/main">
              <a:ext uri="{FF2B5EF4-FFF2-40B4-BE49-F238E27FC236}">
                <a16:creationId xmlns:a16="http://schemas.microsoft.com/office/drawing/2014/main" id="{100B5A7E-8466-4D95-B762-93C55337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a BC extension-style technique that rewards algebra patience.</a:t>
            </a:r>
          </a:p>
        </p:txBody>
      </p:sp>
      <p:sp>
        <p:nvSpPr>
          <p:cNvPr id="19" name="footerLine.16">
            <a:extLst xmlns:a="http://schemas.openxmlformats.org/drawingml/2006/main">
              <a:ext uri="{FF2B5EF4-FFF2-40B4-BE49-F238E27FC236}">
                <a16:creationId xmlns:a16="http://schemas.microsoft.com/office/drawing/2014/main" id="{E3F72BCE-8C4C-4F6E-90E8-4DD15595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6">
            <a:extLst xmlns:a="http://schemas.openxmlformats.org/drawingml/2006/main">
              <a:ext uri="{FF2B5EF4-FFF2-40B4-BE49-F238E27FC236}">
                <a16:creationId xmlns:a16="http://schemas.microsoft.com/office/drawing/2014/main" id="{2E210DFB-2D92-4407-93E6-AF0D7348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6">
            <a:extLst xmlns:a="http://schemas.openxmlformats.org/drawingml/2006/main">
              <a:ext uri="{FF2B5EF4-FFF2-40B4-BE49-F238E27FC236}">
                <a16:creationId xmlns:a16="http://schemas.microsoft.com/office/drawing/2014/main" id="{B170235C-6C80-4C99-8A06-3C8540DD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17/30</a:t>
            </a:r>
          </a:p>
        </p:txBody>
      </p:sp>
    </p:spTree>
    <p:extLst>
      <p:ext uri="{BB962C8B-B14F-4D97-AF65-F5344CB8AC3E}">
        <p14:creationId xmlns:p14="http://schemas.microsoft.com/office/powerpoint/2010/main" val="1679552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7">
            <a:extLst xmlns:a="http://schemas.openxmlformats.org/drawingml/2006/main">
              <a:ext uri="{FF2B5EF4-FFF2-40B4-BE49-F238E27FC236}">
                <a16:creationId xmlns:a16="http://schemas.microsoft.com/office/drawing/2014/main" id="{A92DED4C-888E-4CBB-BC61-D994071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7">
            <a:extLst xmlns:a="http://schemas.openxmlformats.org/drawingml/2006/main">
              <a:ext uri="{FF2B5EF4-FFF2-40B4-BE49-F238E27FC236}">
                <a16:creationId xmlns:a16="http://schemas.microsoft.com/office/drawing/2014/main" id="{A88EED3C-2C8A-456C-BFD2-306B175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17">
            <a:extLst xmlns:a="http://schemas.openxmlformats.org/drawingml/2006/main">
              <a:ext uri="{FF2B5EF4-FFF2-40B4-BE49-F238E27FC236}">
                <a16:creationId xmlns:a16="http://schemas.microsoft.com/office/drawing/2014/main" id="{539B0F34-084E-4979-894E-49D35740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7">
            <a:extLst xmlns:a="http://schemas.openxmlformats.org/drawingml/2006/main">
              <a:ext uri="{FF2B5EF4-FFF2-40B4-BE49-F238E27FC236}">
                <a16:creationId xmlns:a16="http://schemas.microsoft.com/office/drawing/2014/main" id="{71065F46-4556-4B82-A640-C3E415E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7">
            <a:extLst xmlns:a="http://schemas.openxmlformats.org/drawingml/2006/main">
              <a:ext uri="{FF2B5EF4-FFF2-40B4-BE49-F238E27FC236}">
                <a16:creationId xmlns:a16="http://schemas.microsoft.com/office/drawing/2014/main" id="{C61A3FAD-2C3D-45B4-81FE-CD83B827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7">
            <a:extLst xmlns:a="http://schemas.openxmlformats.org/drawingml/2006/main">
              <a:ext uri="{FF2B5EF4-FFF2-40B4-BE49-F238E27FC236}">
                <a16:creationId xmlns:a16="http://schemas.microsoft.com/office/drawing/2014/main" id="{2CA81038-1BE6-4A7F-BBEA-0BC9665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7">
            <a:extLst xmlns:a="http://schemas.openxmlformats.org/drawingml/2006/main">
              <a:ext uri="{FF2B5EF4-FFF2-40B4-BE49-F238E27FC236}">
                <a16:creationId xmlns:a16="http://schemas.microsoft.com/office/drawing/2014/main" id="{89A5A570-3A35-41A6-921F-2AAAB7C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ALGEBRA</a:t>
            </a:r>
          </a:p>
        </p:txBody>
      </p:sp>
      <p:sp>
        <p:nvSpPr>
          <p:cNvPr id="8" name="title.17">
            <a:extLst xmlns:a="http://schemas.openxmlformats.org/drawingml/2006/main">
              <a:ext uri="{FF2B5EF4-FFF2-40B4-BE49-F238E27FC236}">
                <a16:creationId xmlns:a16="http://schemas.microsoft.com/office/drawing/2014/main" id="{C5BA2482-50A4-4871-9279-7A4A6853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Simplify Before Integrating</a:t>
            </a:r>
          </a:p>
        </p:txBody>
      </p:sp>
      <p:sp>
        <p:nvSpPr>
          <p:cNvPr id="9" name="subtitle.17">
            <a:extLst xmlns:a="http://schemas.openxmlformats.org/drawingml/2006/main">
              <a:ext uri="{FF2B5EF4-FFF2-40B4-BE49-F238E27FC236}">
                <a16:creationId xmlns:a16="http://schemas.microsoft.com/office/drawing/2014/main" id="{241C4C34-E2ED-4A16-8A77-F852C67A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Algebra can turn a scary integral into a basic one.</a:t>
            </a:r>
          </a:p>
        </p:txBody>
      </p:sp>
      <p:sp>
        <p:nvSpPr>
          <p:cNvPr id="10" name="formulaCard.17">
            <a:extLst xmlns:a="http://schemas.openxmlformats.org/drawingml/2006/main">
              <a:ext uri="{FF2B5EF4-FFF2-40B4-BE49-F238E27FC236}">
                <a16:creationId xmlns:a16="http://schemas.microsoft.com/office/drawing/2014/main" id="{28816E45-4DC2-4B17-9D76-06D7BCC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7">
            <a:extLst xmlns:a="http://schemas.openxmlformats.org/drawingml/2006/main">
              <a:ext uri="{FF2B5EF4-FFF2-40B4-BE49-F238E27FC236}">
                <a16:creationId xmlns:a16="http://schemas.microsoft.com/office/drawing/2014/main" id="{BAFA7287-FCE5-4DD4-89E7-2FDFFF1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(x^2+1)/x = x + 1/x</a:t>
            </a:r>
          </a:p>
        </p:txBody>
      </p:sp>
      <p:sp>
        <p:nvSpPr>
          <p:cNvPr id="12" name="bullets.17">
            <a:extLst xmlns:a="http://schemas.openxmlformats.org/drawingml/2006/main">
              <a:ext uri="{FF2B5EF4-FFF2-40B4-BE49-F238E27FC236}">
                <a16:creationId xmlns:a16="http://schemas.microsoft.com/office/drawing/2014/main" id="{FA715D3F-81A5-4ADF-94CF-A394D0C9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Divide each term by the denominator when possible.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Use long division when the numerator degree is larger.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Simplifying first reduces technique overload.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After simplification, use the basic toolbox.</a:t>
            </a:r>
          </a:p>
        </p:txBody>
      </p:sp>
      <p:sp>
        <p:nvSpPr>
          <p:cNvPr id="13" name="iconCard.17">
            <a:extLst xmlns:a="http://schemas.openxmlformats.org/drawingml/2006/main">
              <a:ext uri="{FF2B5EF4-FFF2-40B4-BE49-F238E27FC236}">
                <a16:creationId xmlns:a16="http://schemas.microsoft.com/office/drawing/2014/main" id="{CBCB41C0-030B-41B4-9AFE-E3C69924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7">
            <a:extLst xmlns:a="http://schemas.openxmlformats.org/drawingml/2006/main">
              <a:ext uri="{FF2B5EF4-FFF2-40B4-BE49-F238E27FC236}">
                <a16:creationId xmlns:a16="http://schemas.microsoft.com/office/drawing/2014/main" id="{4F4BF5D7-C8CC-4DC3-B52B-E9B8D78B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17">
            <a:extLst xmlns:a="http://schemas.openxmlformats.org/drawingml/2006/main">
              <a:ext uri="{FF2B5EF4-FFF2-40B4-BE49-F238E27FC236}">
                <a16:creationId xmlns:a16="http://schemas.microsoft.com/office/drawing/2014/main" id="{48B5515A-465B-49B5-9F67-947B46DB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Incredibles Dash</a:t>
            </a:r>
          </a:p>
        </p:txBody>
      </p:sp>
      <p:sp>
        <p:nvSpPr>
          <p:cNvPr id="16" name="exampleCard.17">
            <a:extLst xmlns:a="http://schemas.openxmlformats.org/drawingml/2006/main">
              <a:ext uri="{FF2B5EF4-FFF2-40B4-BE49-F238E27FC236}">
                <a16:creationId xmlns:a16="http://schemas.microsoft.com/office/drawing/2014/main" id="{4270AC23-B527-44A7-ADBF-FD7C596E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7">
            <a:extLst xmlns:a="http://schemas.openxmlformats.org/drawingml/2006/main">
              <a:ext uri="{FF2B5EF4-FFF2-40B4-BE49-F238E27FC236}">
                <a16:creationId xmlns:a16="http://schemas.microsoft.com/office/drawing/2014/main" id="{A0DB79E0-E6E8-4C2C-BB6B-F76DA05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∫(x^2+1)/x dx = ∫(x+1/x)dx = x^2/2+ln|x|+C.</a:t>
            </a:r>
          </a:p>
        </p:txBody>
      </p:sp>
      <p:sp>
        <p:nvSpPr>
          <p:cNvPr id="18" name="notes.17">
            <a:extLst xmlns:a="http://schemas.openxmlformats.org/drawingml/2006/main">
              <a:ext uri="{FF2B5EF4-FFF2-40B4-BE49-F238E27FC236}">
                <a16:creationId xmlns:a16="http://schemas.microsoft.com/office/drawing/2014/main" id="{ACFF14AD-A8DD-4FE5-96B7-34972EA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Say: do algebra before calculus when algebra makes the function simpler.</a:t>
            </a:r>
          </a:p>
        </p:txBody>
      </p:sp>
      <p:sp>
        <p:nvSpPr>
          <p:cNvPr id="19" name="footerLine.17">
            <a:extLst xmlns:a="http://schemas.openxmlformats.org/drawingml/2006/main">
              <a:ext uri="{FF2B5EF4-FFF2-40B4-BE49-F238E27FC236}">
                <a16:creationId xmlns:a16="http://schemas.microsoft.com/office/drawing/2014/main" id="{1C56FC9D-6015-4225-A922-D6B01C0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7">
            <a:extLst xmlns:a="http://schemas.openxmlformats.org/drawingml/2006/main">
              <a:ext uri="{FF2B5EF4-FFF2-40B4-BE49-F238E27FC236}">
                <a16:creationId xmlns:a16="http://schemas.microsoft.com/office/drawing/2014/main" id="{9B29B5B3-EAF4-483B-B86A-C997720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7">
            <a:extLst xmlns:a="http://schemas.openxmlformats.org/drawingml/2006/main">
              <a:ext uri="{FF2B5EF4-FFF2-40B4-BE49-F238E27FC236}">
                <a16:creationId xmlns:a16="http://schemas.microsoft.com/office/drawing/2014/main" id="{56B7466C-1CDB-423C-909D-948387FC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18/30</a:t>
            </a:r>
          </a:p>
        </p:txBody>
      </p:sp>
    </p:spTree>
    <p:extLst>
      <p:ext uri="{BB962C8B-B14F-4D97-AF65-F5344CB8AC3E}">
        <p14:creationId xmlns:p14="http://schemas.microsoft.com/office/powerpoint/2010/main" val="12223460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8">
            <a:extLst xmlns:a="http://schemas.openxmlformats.org/drawingml/2006/main">
              <a:ext uri="{FF2B5EF4-FFF2-40B4-BE49-F238E27FC236}">
                <a16:creationId xmlns:a16="http://schemas.microsoft.com/office/drawing/2014/main" id="{49F8CC3A-146C-40F3-821A-8F947B3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8">
            <a:extLst xmlns:a="http://schemas.openxmlformats.org/drawingml/2006/main">
              <a:ext uri="{FF2B5EF4-FFF2-40B4-BE49-F238E27FC236}">
                <a16:creationId xmlns:a16="http://schemas.microsoft.com/office/drawing/2014/main" id="{8AFEE36A-9CDD-4E46-A908-8F1581FD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18">
            <a:extLst xmlns:a="http://schemas.openxmlformats.org/drawingml/2006/main">
              <a:ext uri="{FF2B5EF4-FFF2-40B4-BE49-F238E27FC236}">
                <a16:creationId xmlns:a16="http://schemas.microsoft.com/office/drawing/2014/main" id="{4075F685-6024-4AB6-AA1A-1055EE82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18">
            <a:extLst xmlns:a="http://schemas.openxmlformats.org/drawingml/2006/main">
              <a:ext uri="{FF2B5EF4-FFF2-40B4-BE49-F238E27FC236}">
                <a16:creationId xmlns:a16="http://schemas.microsoft.com/office/drawing/2014/main" id="{1354CCEC-D493-48CE-ADFB-6D2F2D3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8">
            <a:extLst xmlns:a="http://schemas.openxmlformats.org/drawingml/2006/main">
              <a:ext uri="{FF2B5EF4-FFF2-40B4-BE49-F238E27FC236}">
                <a16:creationId xmlns:a16="http://schemas.microsoft.com/office/drawing/2014/main" id="{D2BA0619-AAC2-4958-9353-B255694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8">
            <a:extLst xmlns:a="http://schemas.openxmlformats.org/drawingml/2006/main">
              <a:ext uri="{FF2B5EF4-FFF2-40B4-BE49-F238E27FC236}">
                <a16:creationId xmlns:a16="http://schemas.microsoft.com/office/drawing/2014/main" id="{B70F91A1-8B15-4DF2-92E9-2331D6F4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8">
            <a:extLst xmlns:a="http://schemas.openxmlformats.org/drawingml/2006/main">
              <a:ext uri="{FF2B5EF4-FFF2-40B4-BE49-F238E27FC236}">
                <a16:creationId xmlns:a16="http://schemas.microsoft.com/office/drawing/2014/main" id="{C81945DE-C125-4CCD-905E-205A5B9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PARTS</a:t>
            </a:r>
          </a:p>
        </p:txBody>
      </p:sp>
      <p:sp>
        <p:nvSpPr>
          <p:cNvPr id="8" name="title.18">
            <a:extLst xmlns:a="http://schemas.openxmlformats.org/drawingml/2006/main">
              <a:ext uri="{FF2B5EF4-FFF2-40B4-BE49-F238E27FC236}">
                <a16:creationId xmlns:a16="http://schemas.microsoft.com/office/drawing/2014/main" id="{72967CD8-D5DF-4BFE-8400-2B9B9582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Integration by Parts</a:t>
            </a:r>
          </a:p>
        </p:txBody>
      </p:sp>
      <p:sp>
        <p:nvSpPr>
          <p:cNvPr id="9" name="subtitle.18">
            <a:extLst xmlns:a="http://schemas.openxmlformats.org/drawingml/2006/main">
              <a:ext uri="{FF2B5EF4-FFF2-40B4-BE49-F238E27FC236}">
                <a16:creationId xmlns:a16="http://schemas.microsoft.com/office/drawing/2014/main" id="{B811828B-20BE-4F3F-B0D0-9F83541C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parts for products where substitution does not cleanly work.</a:t>
            </a:r>
          </a:p>
        </p:txBody>
      </p:sp>
      <p:sp>
        <p:nvSpPr>
          <p:cNvPr id="10" name="formulaCard.18">
            <a:extLst xmlns:a="http://schemas.openxmlformats.org/drawingml/2006/main">
              <a:ext uri="{FF2B5EF4-FFF2-40B4-BE49-F238E27FC236}">
                <a16:creationId xmlns:a16="http://schemas.microsoft.com/office/drawing/2014/main" id="{46EC457B-A4D3-402B-ABE5-3D6E592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18">
            <a:extLst xmlns:a="http://schemas.openxmlformats.org/drawingml/2006/main">
              <a:ext uri="{FF2B5EF4-FFF2-40B4-BE49-F238E27FC236}">
                <a16:creationId xmlns:a16="http://schemas.microsoft.com/office/drawing/2014/main" id="{88F2B357-538C-48D6-9767-142F59A7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∫u dv = uv - ∫v du</a:t>
            </a:r>
          </a:p>
        </p:txBody>
      </p:sp>
      <p:sp>
        <p:nvSpPr>
          <p:cNvPr id="12" name="bullets.18">
            <a:extLst xmlns:a="http://schemas.openxmlformats.org/drawingml/2006/main">
              <a:ext uri="{FF2B5EF4-FFF2-40B4-BE49-F238E27FC236}">
                <a16:creationId xmlns:a16="http://schemas.microsoft.com/office/drawing/2014/main" id="{685FC9B6-61E7-46EC-B3D3-6E836002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Choose u to become simpler when differentiated.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Choose dv to be easy to integrate.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Products with x and trig/exponential functions are classic.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second integral should be easier than the first.</a:t>
            </a:r>
          </a:p>
        </p:txBody>
      </p:sp>
      <p:sp>
        <p:nvSpPr>
          <p:cNvPr id="13" name="iconCard.18">
            <a:extLst xmlns:a="http://schemas.openxmlformats.org/drawingml/2006/main">
              <a:ext uri="{FF2B5EF4-FFF2-40B4-BE49-F238E27FC236}">
                <a16:creationId xmlns:a16="http://schemas.microsoft.com/office/drawing/2014/main" id="{FCE25883-8DE1-42AF-8936-D87CE70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18">
            <a:extLst xmlns:a="http://schemas.openxmlformats.org/drawingml/2006/main">
              <a:ext uri="{FF2B5EF4-FFF2-40B4-BE49-F238E27FC236}">
                <a16:creationId xmlns:a16="http://schemas.microsoft.com/office/drawing/2014/main" id="{1967570A-25B2-4EED-8362-A812D2AE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18">
            <a:extLst xmlns:a="http://schemas.openxmlformats.org/drawingml/2006/main">
              <a:ext uri="{FF2B5EF4-FFF2-40B4-BE49-F238E27FC236}">
                <a16:creationId xmlns:a16="http://schemas.microsoft.com/office/drawing/2014/main" id="{BE44E8D9-5A56-4289-965C-A18FA3E7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Tower of Parts</a:t>
            </a:r>
          </a:p>
        </p:txBody>
      </p:sp>
      <p:sp>
        <p:nvSpPr>
          <p:cNvPr id="16" name="exampleCard.18">
            <a:extLst xmlns:a="http://schemas.openxmlformats.org/drawingml/2006/main">
              <a:ext uri="{FF2B5EF4-FFF2-40B4-BE49-F238E27FC236}">
                <a16:creationId xmlns:a16="http://schemas.microsoft.com/office/drawing/2014/main" id="{A4E4A573-ECC2-421F-BD0A-72F1A77E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8">
            <a:extLst xmlns:a="http://schemas.openxmlformats.org/drawingml/2006/main">
              <a:ext uri="{FF2B5EF4-FFF2-40B4-BE49-F238E27FC236}">
                <a16:creationId xmlns:a16="http://schemas.microsoft.com/office/drawing/2014/main" id="{FA390E1C-0C0E-4852-B2E6-32AA5C1E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∫xe^x dx = xe^x - e^x + C.</a:t>
            </a:r>
          </a:p>
        </p:txBody>
      </p:sp>
      <p:sp>
        <p:nvSpPr>
          <p:cNvPr id="18" name="notes.18">
            <a:extLst xmlns:a="http://schemas.openxmlformats.org/drawingml/2006/main">
              <a:ext uri="{FF2B5EF4-FFF2-40B4-BE49-F238E27FC236}">
                <a16:creationId xmlns:a16="http://schemas.microsoft.com/office/drawing/2014/main" id="{4DD797A9-E8FF-4E1A-87F6-993C75B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LIATE as a heuristic, not a law.</a:t>
            </a:r>
          </a:p>
        </p:txBody>
      </p:sp>
      <p:sp>
        <p:nvSpPr>
          <p:cNvPr id="19" name="footerLine.18">
            <a:extLst xmlns:a="http://schemas.openxmlformats.org/drawingml/2006/main">
              <a:ext uri="{FF2B5EF4-FFF2-40B4-BE49-F238E27FC236}">
                <a16:creationId xmlns:a16="http://schemas.microsoft.com/office/drawing/2014/main" id="{EDAAB55C-FF00-4965-AC4C-893631FD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8">
            <a:extLst xmlns:a="http://schemas.openxmlformats.org/drawingml/2006/main">
              <a:ext uri="{FF2B5EF4-FFF2-40B4-BE49-F238E27FC236}">
                <a16:creationId xmlns:a16="http://schemas.microsoft.com/office/drawing/2014/main" id="{FD97272F-B123-4391-8554-BD26F2C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8">
            <a:extLst xmlns:a="http://schemas.openxmlformats.org/drawingml/2006/main">
              <a:ext uri="{FF2B5EF4-FFF2-40B4-BE49-F238E27FC236}">
                <a16:creationId xmlns:a16="http://schemas.microsoft.com/office/drawing/2014/main" id="{232A4AC4-531E-4990-A595-917B721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19/30</a:t>
            </a:r>
          </a:p>
        </p:txBody>
      </p:sp>
    </p:spTree>
    <p:extLst>
      <p:ext uri="{BB962C8B-B14F-4D97-AF65-F5344CB8AC3E}">
        <p14:creationId xmlns:p14="http://schemas.microsoft.com/office/powerpoint/2010/main" val="15394808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19">
            <a:extLst xmlns:a="http://schemas.openxmlformats.org/drawingml/2006/main">
              <a:ext uri="{FF2B5EF4-FFF2-40B4-BE49-F238E27FC236}">
                <a16:creationId xmlns:a16="http://schemas.microsoft.com/office/drawing/2014/main" id="{6AC72CD8-9D5D-472A-9A0D-95B0167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19">
            <a:extLst xmlns:a="http://schemas.openxmlformats.org/drawingml/2006/main">
              <a:ext uri="{FF2B5EF4-FFF2-40B4-BE49-F238E27FC236}">
                <a16:creationId xmlns:a16="http://schemas.microsoft.com/office/drawing/2014/main" id="{B3AFBDBD-8B69-43B0-9BE2-C8387535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19">
            <a:extLst xmlns:a="http://schemas.openxmlformats.org/drawingml/2006/main">
              <a:ext uri="{FF2B5EF4-FFF2-40B4-BE49-F238E27FC236}">
                <a16:creationId xmlns:a16="http://schemas.microsoft.com/office/drawing/2014/main" id="{F11B7B33-794F-440E-AC1E-0421BC63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19">
            <a:extLst xmlns:a="http://schemas.openxmlformats.org/drawingml/2006/main">
              <a:ext uri="{FF2B5EF4-FFF2-40B4-BE49-F238E27FC236}">
                <a16:creationId xmlns:a16="http://schemas.microsoft.com/office/drawing/2014/main" id="{5886E89F-0305-4027-8362-3198D3F2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19">
            <a:extLst xmlns:a="http://schemas.openxmlformats.org/drawingml/2006/main">
              <a:ext uri="{FF2B5EF4-FFF2-40B4-BE49-F238E27FC236}">
                <a16:creationId xmlns:a16="http://schemas.microsoft.com/office/drawing/2014/main" id="{51097EB7-CE07-4046-8C99-BC39937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19">
            <a:extLst xmlns:a="http://schemas.openxmlformats.org/drawingml/2006/main">
              <a:ext uri="{FF2B5EF4-FFF2-40B4-BE49-F238E27FC236}">
                <a16:creationId xmlns:a16="http://schemas.microsoft.com/office/drawing/2014/main" id="{25A75832-F0C5-4D72-ACD3-237180B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19">
            <a:extLst xmlns:a="http://schemas.openxmlformats.org/drawingml/2006/main">
              <a:ext uri="{FF2B5EF4-FFF2-40B4-BE49-F238E27FC236}">
                <a16:creationId xmlns:a16="http://schemas.microsoft.com/office/drawing/2014/main" id="{18CF9FBE-D9C1-4B29-B2C5-2C98732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PARTIAL FRACTIONS</a:t>
            </a:r>
          </a:p>
        </p:txBody>
      </p:sp>
      <p:sp>
        <p:nvSpPr>
          <p:cNvPr id="8" name="title.19">
            <a:extLst xmlns:a="http://schemas.openxmlformats.org/drawingml/2006/main">
              <a:ext uri="{FF2B5EF4-FFF2-40B4-BE49-F238E27FC236}">
                <a16:creationId xmlns:a16="http://schemas.microsoft.com/office/drawing/2014/main" id="{B3D1EB3B-1A37-474A-B40A-F868F1B3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Partial Fractions</a:t>
            </a:r>
          </a:p>
        </p:txBody>
      </p:sp>
      <p:sp>
        <p:nvSpPr>
          <p:cNvPr id="9" name="subtitle.19">
            <a:extLst xmlns:a="http://schemas.openxmlformats.org/drawingml/2006/main">
              <a:ext uri="{FF2B5EF4-FFF2-40B4-BE49-F238E27FC236}">
                <a16:creationId xmlns:a16="http://schemas.microsoft.com/office/drawing/2014/main" id="{3E5F1355-8F9C-480A-BF3E-68CF6E9B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Split rational functions after factoring the denominator.</a:t>
            </a:r>
          </a:p>
        </p:txBody>
      </p:sp>
      <p:sp>
        <p:nvSpPr>
          <p:cNvPr id="10" name="formulaCard.19">
            <a:extLst xmlns:a="http://schemas.openxmlformats.org/drawingml/2006/main">
              <a:ext uri="{FF2B5EF4-FFF2-40B4-BE49-F238E27FC236}">
                <a16:creationId xmlns:a16="http://schemas.microsoft.com/office/drawing/2014/main" id="{B9BC906D-E6F2-47ED-8D5C-92EC28F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19">
            <a:extLst xmlns:a="http://schemas.openxmlformats.org/drawingml/2006/main">
              <a:ext uri="{FF2B5EF4-FFF2-40B4-BE49-F238E27FC236}">
                <a16:creationId xmlns:a16="http://schemas.microsoft.com/office/drawing/2014/main" id="{CCB5A52C-D402-4404-AB4A-E0D8A82D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1/[(x-1)(x+1)] = A/(x-1)+B/(x+1)</a:t>
            </a:r>
          </a:p>
        </p:txBody>
      </p:sp>
      <p:sp>
        <p:nvSpPr>
          <p:cNvPr id="12" name="bullets.19">
            <a:extLst xmlns:a="http://schemas.openxmlformats.org/drawingml/2006/main">
              <a:ext uri="{FF2B5EF4-FFF2-40B4-BE49-F238E27FC236}">
                <a16:creationId xmlns:a16="http://schemas.microsoft.com/office/drawing/2014/main" id="{95CC8BE5-B6A1-4BF1-BB8A-B36FBE6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Factor the denominator first.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Create one fraction term per linear factor.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Solve for the constants.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Integrate the separated terms, usually into logarithms.</a:t>
            </a:r>
          </a:p>
        </p:txBody>
      </p:sp>
      <p:sp>
        <p:nvSpPr>
          <p:cNvPr id="13" name="iconCard.19">
            <a:extLst xmlns:a="http://schemas.openxmlformats.org/drawingml/2006/main">
              <a:ext uri="{FF2B5EF4-FFF2-40B4-BE49-F238E27FC236}">
                <a16:creationId xmlns:a16="http://schemas.microsoft.com/office/drawing/2014/main" id="{BF12E904-761E-4D07-A21E-A077B5E1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19">
            <a:extLst xmlns:a="http://schemas.openxmlformats.org/drawingml/2006/main">
              <a:ext uri="{FF2B5EF4-FFF2-40B4-BE49-F238E27FC236}">
                <a16:creationId xmlns:a16="http://schemas.microsoft.com/office/drawing/2014/main" id="{6071553E-9EF3-457A-9DAE-167ECEE7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🧭</a:t>
            </a:r>
          </a:p>
        </p:txBody>
      </p:sp>
      <p:sp>
        <p:nvSpPr>
          <p:cNvPr id="15" name="theme.19">
            <a:extLst xmlns:a="http://schemas.openxmlformats.org/drawingml/2006/main">
              <a:ext uri="{FF2B5EF4-FFF2-40B4-BE49-F238E27FC236}">
                <a16:creationId xmlns:a16="http://schemas.microsoft.com/office/drawing/2014/main" id="{FCCA8EE3-1577-49E1-9255-6D61D1D4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Pirates Map</a:t>
            </a:r>
          </a:p>
        </p:txBody>
      </p:sp>
      <p:sp>
        <p:nvSpPr>
          <p:cNvPr id="16" name="exampleCard.19">
            <a:extLst xmlns:a="http://schemas.openxmlformats.org/drawingml/2006/main">
              <a:ext uri="{FF2B5EF4-FFF2-40B4-BE49-F238E27FC236}">
                <a16:creationId xmlns:a16="http://schemas.microsoft.com/office/drawing/2014/main" id="{03A72835-B0A9-494D-9DA6-525DDA33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19">
            <a:extLst xmlns:a="http://schemas.openxmlformats.org/drawingml/2006/main">
              <a:ext uri="{FF2B5EF4-FFF2-40B4-BE49-F238E27FC236}">
                <a16:creationId xmlns:a16="http://schemas.microsoft.com/office/drawing/2014/main" id="{1D9AE45B-7717-4CD9-B584-4E4315C3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1/(x^2-1)=1/2·1/(x-1)-1/2·1/(x+1).</a:t>
            </a:r>
          </a:p>
        </p:txBody>
      </p:sp>
      <p:sp>
        <p:nvSpPr>
          <p:cNvPr id="18" name="notes.19">
            <a:extLst xmlns:a="http://schemas.openxmlformats.org/drawingml/2006/main">
              <a:ext uri="{FF2B5EF4-FFF2-40B4-BE49-F238E27FC236}">
                <a16:creationId xmlns:a16="http://schemas.microsoft.com/office/drawing/2014/main" id="{BAC7DEA5-08E8-4D8E-94E7-B8C86D1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another BC extension-style method and appears in the game.</a:t>
            </a:r>
          </a:p>
        </p:txBody>
      </p:sp>
      <p:sp>
        <p:nvSpPr>
          <p:cNvPr id="19" name="footerLine.19">
            <a:extLst xmlns:a="http://schemas.openxmlformats.org/drawingml/2006/main">
              <a:ext uri="{FF2B5EF4-FFF2-40B4-BE49-F238E27FC236}">
                <a16:creationId xmlns:a16="http://schemas.microsoft.com/office/drawing/2014/main" id="{4982F2C7-BF65-4007-85A6-8D578F61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19">
            <a:extLst xmlns:a="http://schemas.openxmlformats.org/drawingml/2006/main">
              <a:ext uri="{FF2B5EF4-FFF2-40B4-BE49-F238E27FC236}">
                <a16:creationId xmlns:a16="http://schemas.microsoft.com/office/drawing/2014/main" id="{2DE1CA1F-FF61-494C-A9E8-760CB79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19">
            <a:extLst xmlns:a="http://schemas.openxmlformats.org/drawingml/2006/main">
              <a:ext uri="{FF2B5EF4-FFF2-40B4-BE49-F238E27FC236}">
                <a16:creationId xmlns:a16="http://schemas.microsoft.com/office/drawing/2014/main" id="{861E6F42-EDD3-41D2-83CC-3DF7E38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20/30</a:t>
            </a:r>
          </a:p>
        </p:txBody>
      </p:sp>
    </p:spTree>
    <p:extLst>
      <p:ext uri="{BB962C8B-B14F-4D97-AF65-F5344CB8AC3E}">
        <p14:creationId xmlns:p14="http://schemas.microsoft.com/office/powerpoint/2010/main" val="11118770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0">
            <a:extLst xmlns:a="http://schemas.openxmlformats.org/drawingml/2006/main">
              <a:ext uri="{FF2B5EF4-FFF2-40B4-BE49-F238E27FC236}">
                <a16:creationId xmlns:a16="http://schemas.microsoft.com/office/drawing/2014/main" id="{F88CC633-3119-4553-A64B-A91529D9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0">
            <a:extLst xmlns:a="http://schemas.openxmlformats.org/drawingml/2006/main">
              <a:ext uri="{FF2B5EF4-FFF2-40B4-BE49-F238E27FC236}">
                <a16:creationId xmlns:a16="http://schemas.microsoft.com/office/drawing/2014/main" id="{6876B838-ADAA-4C95-A12F-E0F0CD8B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20">
            <a:extLst xmlns:a="http://schemas.openxmlformats.org/drawingml/2006/main">
              <a:ext uri="{FF2B5EF4-FFF2-40B4-BE49-F238E27FC236}">
                <a16:creationId xmlns:a16="http://schemas.microsoft.com/office/drawing/2014/main" id="{C96F3D6F-812E-48C5-9D2F-FB5E94F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0">
            <a:extLst xmlns:a="http://schemas.openxmlformats.org/drawingml/2006/main">
              <a:ext uri="{FF2B5EF4-FFF2-40B4-BE49-F238E27FC236}">
                <a16:creationId xmlns:a16="http://schemas.microsoft.com/office/drawing/2014/main" id="{F434061F-8F0F-48D1-8562-6EFC8AA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0">
            <a:extLst xmlns:a="http://schemas.openxmlformats.org/drawingml/2006/main">
              <a:ext uri="{FF2B5EF4-FFF2-40B4-BE49-F238E27FC236}">
                <a16:creationId xmlns:a16="http://schemas.microsoft.com/office/drawing/2014/main" id="{BA9D51A0-2D1A-4460-9663-56EB9FE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0">
            <a:extLst xmlns:a="http://schemas.openxmlformats.org/drawingml/2006/main">
              <a:ext uri="{FF2B5EF4-FFF2-40B4-BE49-F238E27FC236}">
                <a16:creationId xmlns:a16="http://schemas.microsoft.com/office/drawing/2014/main" id="{AFAB5D51-FD2A-4F1D-A8CA-BBB08C86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0">
            <a:extLst xmlns:a="http://schemas.openxmlformats.org/drawingml/2006/main">
              <a:ext uri="{FF2B5EF4-FFF2-40B4-BE49-F238E27FC236}">
                <a16:creationId xmlns:a16="http://schemas.microsoft.com/office/drawing/2014/main" id="{099BB96B-A335-4899-88CB-4B36F19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IMPROPER</a:t>
            </a:r>
          </a:p>
        </p:txBody>
      </p:sp>
      <p:sp>
        <p:nvSpPr>
          <p:cNvPr id="8" name="title.20">
            <a:extLst xmlns:a="http://schemas.openxmlformats.org/drawingml/2006/main">
              <a:ext uri="{FF2B5EF4-FFF2-40B4-BE49-F238E27FC236}">
                <a16:creationId xmlns:a16="http://schemas.microsoft.com/office/drawing/2014/main" id="{9263C03D-BC45-4931-978E-1B35DEDE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Improper Integrals</a:t>
            </a:r>
          </a:p>
        </p:txBody>
      </p:sp>
      <p:sp>
        <p:nvSpPr>
          <p:cNvPr id="9" name="subtitle.20">
            <a:extLst xmlns:a="http://schemas.openxmlformats.org/drawingml/2006/main">
              <a:ext uri="{FF2B5EF4-FFF2-40B4-BE49-F238E27FC236}">
                <a16:creationId xmlns:a16="http://schemas.microsoft.com/office/drawing/2014/main" id="{B5AFA97B-016F-4455-83BD-F7E9579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limits for infinity or vertical asymptotes.</a:t>
            </a:r>
          </a:p>
        </p:txBody>
      </p:sp>
      <p:sp>
        <p:nvSpPr>
          <p:cNvPr id="10" name="formulaCard.20">
            <a:extLst xmlns:a="http://schemas.openxmlformats.org/drawingml/2006/main">
              <a:ext uri="{FF2B5EF4-FFF2-40B4-BE49-F238E27FC236}">
                <a16:creationId xmlns:a16="http://schemas.microsoft.com/office/drawing/2014/main" id="{814F1523-C60F-42CA-AD86-EC6BD8B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0">
            <a:extLst xmlns:a="http://schemas.openxmlformats.org/drawingml/2006/main">
              <a:ext uri="{FF2B5EF4-FFF2-40B4-BE49-F238E27FC236}">
                <a16:creationId xmlns:a16="http://schemas.microsoft.com/office/drawing/2014/main" id="{150FB43F-7CA4-4D68-BDFD-8941D16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∫_a^∞ f(x)dx = lim_{b→∞} ∫_a^b f(x)dx</a:t>
            </a:r>
          </a:p>
        </p:txBody>
      </p:sp>
      <p:sp>
        <p:nvSpPr>
          <p:cNvPr id="12" name="bullets.20">
            <a:extLst xmlns:a="http://schemas.openxmlformats.org/drawingml/2006/main">
              <a:ext uri="{FF2B5EF4-FFF2-40B4-BE49-F238E27FC236}">
                <a16:creationId xmlns:a16="http://schemas.microsoft.com/office/drawing/2014/main" id="{17AF5F4F-A735-48C3-8CD1-48A847C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Infinite intervals require a limit.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Vertical asymptotes inside or at endpoints require a limit.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Convergent means the limit is finite.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Divergent means the limit is infinite or does not exist.</a:t>
            </a:r>
          </a:p>
        </p:txBody>
      </p:sp>
      <p:sp>
        <p:nvSpPr>
          <p:cNvPr id="13" name="iconCard.20">
            <a:extLst xmlns:a="http://schemas.openxmlformats.org/drawingml/2006/main">
              <a:ext uri="{FF2B5EF4-FFF2-40B4-BE49-F238E27FC236}">
                <a16:creationId xmlns:a16="http://schemas.microsoft.com/office/drawing/2014/main" id="{57493EAB-9936-4680-B757-BEA62087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0">
            <a:extLst xmlns:a="http://schemas.openxmlformats.org/drawingml/2006/main">
              <a:ext uri="{FF2B5EF4-FFF2-40B4-BE49-F238E27FC236}">
                <a16:creationId xmlns:a16="http://schemas.microsoft.com/office/drawing/2014/main" id="{A6A84227-9016-4F74-A2E8-D950488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🌐</a:t>
            </a:r>
          </a:p>
        </p:txBody>
      </p:sp>
      <p:sp>
        <p:nvSpPr>
          <p:cNvPr id="15" name="theme.20">
            <a:extLst xmlns:a="http://schemas.openxmlformats.org/drawingml/2006/main">
              <a:ext uri="{FF2B5EF4-FFF2-40B4-BE49-F238E27FC236}">
                <a16:creationId xmlns:a16="http://schemas.microsoft.com/office/drawing/2014/main" id="{1E9DD9BF-D869-47A5-B0CD-33D4E576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 Tours</a:t>
            </a:r>
          </a:p>
        </p:txBody>
      </p:sp>
      <p:sp>
        <p:nvSpPr>
          <p:cNvPr id="16" name="exampleCard.20">
            <a:extLst xmlns:a="http://schemas.openxmlformats.org/drawingml/2006/main">
              <a:ext uri="{FF2B5EF4-FFF2-40B4-BE49-F238E27FC236}">
                <a16:creationId xmlns:a16="http://schemas.microsoft.com/office/drawing/2014/main" id="{E98CE835-8F21-4F44-94FF-5474AB6A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20">
            <a:extLst xmlns:a="http://schemas.openxmlformats.org/drawingml/2006/main">
              <a:ext uri="{FF2B5EF4-FFF2-40B4-BE49-F238E27FC236}">
                <a16:creationId xmlns:a16="http://schemas.microsoft.com/office/drawing/2014/main" id="{468D731A-642F-4887-BC93-259057B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∫_1^∞1/x^2dx converges to 1.</a:t>
            </a:r>
          </a:p>
        </p:txBody>
      </p:sp>
      <p:sp>
        <p:nvSpPr>
          <p:cNvPr id="18" name="notes.20">
            <a:extLst xmlns:a="http://schemas.openxmlformats.org/drawingml/2006/main">
              <a:ext uri="{FF2B5EF4-FFF2-40B4-BE49-F238E27FC236}">
                <a16:creationId xmlns:a16="http://schemas.microsoft.com/office/drawing/2014/main" id="{8C08B9A6-5620-4457-A818-FBB0A0C1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Make students name where the problem is improper before solving.</a:t>
            </a:r>
          </a:p>
        </p:txBody>
      </p:sp>
      <p:sp>
        <p:nvSpPr>
          <p:cNvPr id="19" name="footerLine.20">
            <a:extLst xmlns:a="http://schemas.openxmlformats.org/drawingml/2006/main">
              <a:ext uri="{FF2B5EF4-FFF2-40B4-BE49-F238E27FC236}">
                <a16:creationId xmlns:a16="http://schemas.microsoft.com/office/drawing/2014/main" id="{D1DC09D5-F2C0-405F-B11A-1A756C8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20">
            <a:extLst xmlns:a="http://schemas.openxmlformats.org/drawingml/2006/main">
              <a:ext uri="{FF2B5EF4-FFF2-40B4-BE49-F238E27FC236}">
                <a16:creationId xmlns:a16="http://schemas.microsoft.com/office/drawing/2014/main" id="{AECB2BBE-824E-41A9-ACC2-0AA66F36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20">
            <a:extLst xmlns:a="http://schemas.openxmlformats.org/drawingml/2006/main">
              <a:ext uri="{FF2B5EF4-FFF2-40B4-BE49-F238E27FC236}">
                <a16:creationId xmlns:a16="http://schemas.microsoft.com/office/drawing/2014/main" id="{39F50C10-7269-476C-BBFC-04BCDE13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21/30</a:t>
            </a:r>
          </a:p>
        </p:txBody>
      </p:sp>
    </p:spTree>
    <p:extLst>
      <p:ext uri="{BB962C8B-B14F-4D97-AF65-F5344CB8AC3E}">
        <p14:creationId xmlns:p14="http://schemas.microsoft.com/office/powerpoint/2010/main" val="10509996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1">
            <a:extLst xmlns:a="http://schemas.openxmlformats.org/drawingml/2006/main">
              <a:ext uri="{FF2B5EF4-FFF2-40B4-BE49-F238E27FC236}">
                <a16:creationId xmlns:a16="http://schemas.microsoft.com/office/drawing/2014/main" id="{BA723122-7B05-4BAE-8B29-1224346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1">
            <a:extLst xmlns:a="http://schemas.openxmlformats.org/drawingml/2006/main">
              <a:ext uri="{FF2B5EF4-FFF2-40B4-BE49-F238E27FC236}">
                <a16:creationId xmlns:a16="http://schemas.microsoft.com/office/drawing/2014/main" id="{842068B6-442E-462A-B3BC-6D84498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21">
            <a:extLst xmlns:a="http://schemas.openxmlformats.org/drawingml/2006/main">
              <a:ext uri="{FF2B5EF4-FFF2-40B4-BE49-F238E27FC236}">
                <a16:creationId xmlns:a16="http://schemas.microsoft.com/office/drawing/2014/main" id="{C74A5DFA-B88E-4371-8C51-6523AFA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21">
            <a:extLst xmlns:a="http://schemas.openxmlformats.org/drawingml/2006/main">
              <a:ext uri="{FF2B5EF4-FFF2-40B4-BE49-F238E27FC236}">
                <a16:creationId xmlns:a16="http://schemas.microsoft.com/office/drawing/2014/main" id="{ED8B4631-C35A-4EAD-89A3-D082877F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1">
            <a:extLst xmlns:a="http://schemas.openxmlformats.org/drawingml/2006/main">
              <a:ext uri="{FF2B5EF4-FFF2-40B4-BE49-F238E27FC236}">
                <a16:creationId xmlns:a16="http://schemas.microsoft.com/office/drawing/2014/main" id="{22999467-56A8-47FA-B7B8-1CA8530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1">
            <a:extLst xmlns:a="http://schemas.openxmlformats.org/drawingml/2006/main">
              <a:ext uri="{FF2B5EF4-FFF2-40B4-BE49-F238E27FC236}">
                <a16:creationId xmlns:a16="http://schemas.microsoft.com/office/drawing/2014/main" id="{31F64C48-A57A-4483-A542-0C8EC9C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1">
            <a:extLst xmlns:a="http://schemas.openxmlformats.org/drawingml/2006/main">
              <a:ext uri="{FF2B5EF4-FFF2-40B4-BE49-F238E27FC236}">
                <a16:creationId xmlns:a16="http://schemas.microsoft.com/office/drawing/2014/main" id="{53871684-EBB0-42A8-BEA8-A42C684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IMPROPER</a:t>
            </a:r>
          </a:p>
        </p:txBody>
      </p:sp>
      <p:sp>
        <p:nvSpPr>
          <p:cNvPr id="8" name="title.21">
            <a:extLst xmlns:a="http://schemas.openxmlformats.org/drawingml/2006/main">
              <a:ext uri="{FF2B5EF4-FFF2-40B4-BE49-F238E27FC236}">
                <a16:creationId xmlns:a16="http://schemas.microsoft.com/office/drawing/2014/main" id="{E2962621-A902-4E37-AD87-0616BD8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p-Integral Test</a:t>
            </a:r>
          </a:p>
        </p:txBody>
      </p:sp>
      <p:sp>
        <p:nvSpPr>
          <p:cNvPr id="9" name="subtitle.21">
            <a:extLst xmlns:a="http://schemas.openxmlformats.org/drawingml/2006/main">
              <a:ext uri="{FF2B5EF4-FFF2-40B4-BE49-F238E27FC236}">
                <a16:creationId xmlns:a16="http://schemas.microsoft.com/office/drawing/2014/main" id="{25FDCB6C-0EEF-4698-8138-4838189F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exponent decides convergence for 1/x^p.</a:t>
            </a:r>
          </a:p>
        </p:txBody>
      </p:sp>
      <p:sp>
        <p:nvSpPr>
          <p:cNvPr id="10" name="formulaCard.21">
            <a:extLst xmlns:a="http://schemas.openxmlformats.org/drawingml/2006/main">
              <a:ext uri="{FF2B5EF4-FFF2-40B4-BE49-F238E27FC236}">
                <a16:creationId xmlns:a16="http://schemas.microsoft.com/office/drawing/2014/main" id="{26E83CCE-1BE9-49F0-89F8-1940523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21">
            <a:extLst xmlns:a="http://schemas.openxmlformats.org/drawingml/2006/main">
              <a:ext uri="{FF2B5EF4-FFF2-40B4-BE49-F238E27FC236}">
                <a16:creationId xmlns:a16="http://schemas.microsoft.com/office/drawing/2014/main" id="{5256A410-D72D-4AC4-ABA0-CA7393DC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∫_1^∞ 1/x^p dx converges if p&gt;1</a:t>
            </a:r>
          </a:p>
        </p:txBody>
      </p:sp>
      <p:sp>
        <p:nvSpPr>
          <p:cNvPr id="12" name="bullets.21">
            <a:extLst xmlns:a="http://schemas.openxmlformats.org/drawingml/2006/main">
              <a:ext uri="{FF2B5EF4-FFF2-40B4-BE49-F238E27FC236}">
                <a16:creationId xmlns:a16="http://schemas.microsoft.com/office/drawing/2014/main" id="{0B4F6369-F7F8-45FB-A487-2FBEAC4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p&gt;1 converges on [1,∞).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p≤1 diverges on [1,∞).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Near 0, ∫_0^1 1/x^p dx converges if p&lt;1.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Always check the interval before using a shortcut.</a:t>
            </a:r>
          </a:p>
        </p:txBody>
      </p:sp>
      <p:sp>
        <p:nvSpPr>
          <p:cNvPr id="13" name="iconCard.21">
            <a:extLst xmlns:a="http://schemas.openxmlformats.org/drawingml/2006/main">
              <a:ext uri="{FF2B5EF4-FFF2-40B4-BE49-F238E27FC236}">
                <a16:creationId xmlns:a16="http://schemas.microsoft.com/office/drawing/2014/main" id="{5D605201-8FFB-428F-90D0-C96E51BC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21">
            <a:extLst xmlns:a="http://schemas.openxmlformats.org/drawingml/2006/main">
              <a:ext uri="{FF2B5EF4-FFF2-40B4-BE49-F238E27FC236}">
                <a16:creationId xmlns:a16="http://schemas.microsoft.com/office/drawing/2014/main" id="{71A1591B-237E-4E19-9622-452A61A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🏆</a:t>
            </a:r>
          </a:p>
        </p:txBody>
      </p:sp>
      <p:sp>
        <p:nvSpPr>
          <p:cNvPr id="15" name="theme.21">
            <a:extLst xmlns:a="http://schemas.openxmlformats.org/drawingml/2006/main">
              <a:ext uri="{FF2B5EF4-FFF2-40B4-BE49-F238E27FC236}">
                <a16:creationId xmlns:a16="http://schemas.microsoft.com/office/drawing/2014/main" id="{522BC73E-6404-4979-8E01-9E4A1F66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Fireworks</a:t>
            </a:r>
          </a:p>
        </p:txBody>
      </p:sp>
      <p:sp>
        <p:nvSpPr>
          <p:cNvPr id="16" name="exampleCard.21">
            <a:extLst xmlns:a="http://schemas.openxmlformats.org/drawingml/2006/main">
              <a:ext uri="{FF2B5EF4-FFF2-40B4-BE49-F238E27FC236}">
                <a16:creationId xmlns:a16="http://schemas.microsoft.com/office/drawing/2014/main" id="{A2E864E1-C7C9-4BD4-8E85-CD7140A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21">
            <a:extLst xmlns:a="http://schemas.openxmlformats.org/drawingml/2006/main">
              <a:ext uri="{FF2B5EF4-FFF2-40B4-BE49-F238E27FC236}">
                <a16:creationId xmlns:a16="http://schemas.microsoft.com/office/drawing/2014/main" id="{51B1E27A-6BB3-4CD4-8BE7-72F042EE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∫_1^∞1/x^{3/2}dx converges because 3/2&gt;1.</a:t>
            </a:r>
          </a:p>
        </p:txBody>
      </p:sp>
      <p:sp>
        <p:nvSpPr>
          <p:cNvPr id="18" name="notes.21">
            <a:extLst xmlns:a="http://schemas.openxmlformats.org/drawingml/2006/main">
              <a:ext uri="{FF2B5EF4-FFF2-40B4-BE49-F238E27FC236}">
                <a16:creationId xmlns:a16="http://schemas.microsoft.com/office/drawing/2014/main" id="{1E53C2BF-A6DB-49F5-AA82-9E7BF472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Compare the infinity case with the zero-endpoint case.</a:t>
            </a:r>
          </a:p>
        </p:txBody>
      </p:sp>
      <p:sp>
        <p:nvSpPr>
          <p:cNvPr id="19" name="footerLine.21">
            <a:extLst xmlns:a="http://schemas.openxmlformats.org/drawingml/2006/main">
              <a:ext uri="{FF2B5EF4-FFF2-40B4-BE49-F238E27FC236}">
                <a16:creationId xmlns:a16="http://schemas.microsoft.com/office/drawing/2014/main" id="{D7CAE4B6-4E2E-48BC-B371-4F7142B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21">
            <a:extLst xmlns:a="http://schemas.openxmlformats.org/drawingml/2006/main">
              <a:ext uri="{FF2B5EF4-FFF2-40B4-BE49-F238E27FC236}">
                <a16:creationId xmlns:a16="http://schemas.microsoft.com/office/drawing/2014/main" id="{5991972A-B4CF-40E0-97AA-15C7D29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21">
            <a:extLst xmlns:a="http://schemas.openxmlformats.org/drawingml/2006/main">
              <a:ext uri="{FF2B5EF4-FFF2-40B4-BE49-F238E27FC236}">
                <a16:creationId xmlns:a16="http://schemas.microsoft.com/office/drawing/2014/main" id="{DD6AE3CE-D60B-4C36-9E4E-3469786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22/30</a:t>
            </a:r>
          </a:p>
        </p:txBody>
      </p:sp>
    </p:spTree>
    <p:extLst>
      <p:ext uri="{BB962C8B-B14F-4D97-AF65-F5344CB8AC3E}">
        <p14:creationId xmlns:p14="http://schemas.microsoft.com/office/powerpoint/2010/main" val="19617955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2">
            <a:extLst xmlns:a="http://schemas.openxmlformats.org/drawingml/2006/main">
              <a:ext uri="{FF2B5EF4-FFF2-40B4-BE49-F238E27FC236}">
                <a16:creationId xmlns:a16="http://schemas.microsoft.com/office/drawing/2014/main" id="{747029A9-BB5D-4233-BE7C-A42F45D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2">
            <a:extLst xmlns:a="http://schemas.openxmlformats.org/drawingml/2006/main">
              <a:ext uri="{FF2B5EF4-FFF2-40B4-BE49-F238E27FC236}">
                <a16:creationId xmlns:a16="http://schemas.microsoft.com/office/drawing/2014/main" id="{CBAFF78F-EA27-4FE1-9800-BF6D748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22">
            <a:extLst xmlns:a="http://schemas.openxmlformats.org/drawingml/2006/main">
              <a:ext uri="{FF2B5EF4-FFF2-40B4-BE49-F238E27FC236}">
                <a16:creationId xmlns:a16="http://schemas.microsoft.com/office/drawing/2014/main" id="{319A99C6-F8D4-4C22-8BD8-6830CF10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2">
            <a:extLst xmlns:a="http://schemas.openxmlformats.org/drawingml/2006/main">
              <a:ext uri="{FF2B5EF4-FFF2-40B4-BE49-F238E27FC236}">
                <a16:creationId xmlns:a16="http://schemas.microsoft.com/office/drawing/2014/main" id="{C5C2CB4D-9DD3-47E4-87E4-F8FE9602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2">
            <a:extLst xmlns:a="http://schemas.openxmlformats.org/drawingml/2006/main">
              <a:ext uri="{FF2B5EF4-FFF2-40B4-BE49-F238E27FC236}">
                <a16:creationId xmlns:a16="http://schemas.microsoft.com/office/drawing/2014/main" id="{E7EF6CDB-60E1-49FD-B3E4-2DCE5702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2">
            <a:extLst xmlns:a="http://schemas.openxmlformats.org/drawingml/2006/main">
              <a:ext uri="{FF2B5EF4-FFF2-40B4-BE49-F238E27FC236}">
                <a16:creationId xmlns:a16="http://schemas.microsoft.com/office/drawing/2014/main" id="{5422BBD0-7417-4EA0-A673-2918008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2">
            <a:extLst xmlns:a="http://schemas.openxmlformats.org/drawingml/2006/main">
              <a:ext uri="{FF2B5EF4-FFF2-40B4-BE49-F238E27FC236}">
                <a16:creationId xmlns:a16="http://schemas.microsoft.com/office/drawing/2014/main" id="{D0BEB070-FEAB-455F-87DE-178007A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8" name="title.22">
            <a:extLst xmlns:a="http://schemas.openxmlformats.org/drawingml/2006/main">
              <a:ext uri="{FF2B5EF4-FFF2-40B4-BE49-F238E27FC236}">
                <a16:creationId xmlns:a16="http://schemas.microsoft.com/office/drawing/2014/main" id="{FE4205C8-9A60-45A1-800E-734270C1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Technique Selection</a:t>
            </a:r>
          </a:p>
        </p:txBody>
      </p:sp>
      <p:sp>
        <p:nvSpPr>
          <p:cNvPr id="9" name="subtitle.22">
            <a:extLst xmlns:a="http://schemas.openxmlformats.org/drawingml/2006/main">
              <a:ext uri="{FF2B5EF4-FFF2-40B4-BE49-F238E27FC236}">
                <a16:creationId xmlns:a16="http://schemas.microsoft.com/office/drawing/2014/main" id="{A0A90572-1A90-4C9B-B0B5-968CA10F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hardest part is often choosing the first move.</a:t>
            </a:r>
          </a:p>
        </p:txBody>
      </p:sp>
      <p:sp>
        <p:nvSpPr>
          <p:cNvPr id="10" name="formulaCard.22">
            <a:extLst xmlns:a="http://schemas.openxmlformats.org/drawingml/2006/main">
              <a:ext uri="{FF2B5EF4-FFF2-40B4-BE49-F238E27FC236}">
                <a16:creationId xmlns:a16="http://schemas.microsoft.com/office/drawing/2014/main" id="{E817AF42-A38A-4E47-B9DF-1FBFB076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2">
            <a:extLst xmlns:a="http://schemas.openxmlformats.org/drawingml/2006/main">
              <a:ext uri="{FF2B5EF4-FFF2-40B4-BE49-F238E27FC236}">
                <a16:creationId xmlns:a16="http://schemas.microsoft.com/office/drawing/2014/main" id="{AA995802-CC94-462B-A6CF-94D79B69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Simplify → basic rule → u-sub → parts → partial fractions → improper limit</a:t>
            </a:r>
          </a:p>
        </p:txBody>
      </p:sp>
      <p:sp>
        <p:nvSpPr>
          <p:cNvPr id="12" name="bullets.22">
            <a:extLst xmlns:a="http://schemas.openxmlformats.org/drawingml/2006/main">
              <a:ext uri="{FF2B5EF4-FFF2-40B4-BE49-F238E27FC236}">
                <a16:creationId xmlns:a16="http://schemas.microsoft.com/office/drawing/2014/main" id="{103D4DC6-BFA2-4C0C-93FB-88E7EF5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Simplify algebraically before choosing a technique.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Check for an inside function and derivative.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For products, consider integration by parts.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For rational functions, factor and consider division or partial fractions.</a:t>
            </a:r>
          </a:p>
        </p:txBody>
      </p:sp>
      <p:sp>
        <p:nvSpPr>
          <p:cNvPr id="13" name="iconCard.22">
            <a:extLst xmlns:a="http://schemas.openxmlformats.org/drawingml/2006/main">
              <a:ext uri="{FF2B5EF4-FFF2-40B4-BE49-F238E27FC236}">
                <a16:creationId xmlns:a16="http://schemas.microsoft.com/office/drawing/2014/main" id="{F63DB647-D0CA-4C85-9D0D-38BCC9A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2">
            <a:extLst xmlns:a="http://schemas.openxmlformats.org/drawingml/2006/main">
              <a:ext uri="{FF2B5EF4-FFF2-40B4-BE49-F238E27FC236}">
                <a16:creationId xmlns:a16="http://schemas.microsoft.com/office/drawing/2014/main" id="{29214C33-6CD8-4198-9E40-38C6E40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🏆</a:t>
            </a:r>
          </a:p>
        </p:txBody>
      </p:sp>
      <p:sp>
        <p:nvSpPr>
          <p:cNvPr id="15" name="theme.22">
            <a:extLst xmlns:a="http://schemas.openxmlformats.org/drawingml/2006/main">
              <a:ext uri="{FF2B5EF4-FFF2-40B4-BE49-F238E27FC236}">
                <a16:creationId xmlns:a16="http://schemas.microsoft.com/office/drawing/2014/main" id="{95E5CDE0-9F12-4278-8B28-BE0F068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Quest</a:t>
            </a:r>
          </a:p>
        </p:txBody>
      </p:sp>
      <p:sp>
        <p:nvSpPr>
          <p:cNvPr id="16" name="exampleCard.22">
            <a:extLst xmlns:a="http://schemas.openxmlformats.org/drawingml/2006/main">
              <a:ext uri="{FF2B5EF4-FFF2-40B4-BE49-F238E27FC236}">
                <a16:creationId xmlns:a16="http://schemas.microsoft.com/office/drawing/2014/main" id="{629FDA34-ED49-46A6-8A8B-50D65CE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example.22">
            <a:extLst xmlns:a="http://schemas.openxmlformats.org/drawingml/2006/main">
              <a:ext uri="{FF2B5EF4-FFF2-40B4-BE49-F238E27FC236}">
                <a16:creationId xmlns:a16="http://schemas.microsoft.com/office/drawing/2014/main" id="{C304A312-820F-4DEE-B25B-054054A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314575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Example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8F5EE"/>
                </a:solidFill>
                <a:latin typeface="Aptos"/>
                <a:ea typeface="Aptos"/>
                <a:cs typeface="Aptos"/>
              </a:rPr>
              <a:t>∫x/(x^2+9)dx is u-substitution with u=x^2+9.</a:t>
            </a:r>
          </a:p>
        </p:txBody>
      </p:sp>
      <p:sp>
        <p:nvSpPr>
          <p:cNvPr id="18" name="notes.22">
            <a:extLst xmlns:a="http://schemas.openxmlformats.org/drawingml/2006/main">
              <a:ext uri="{FF2B5EF4-FFF2-40B4-BE49-F238E27FC236}">
                <a16:creationId xmlns:a16="http://schemas.microsoft.com/office/drawing/2014/main" id="{6B96DF12-3D90-4C63-A51D-2BB9014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714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the decision tree students should use during the game.</a:t>
            </a:r>
          </a:p>
        </p:txBody>
      </p:sp>
      <p:sp>
        <p:nvSpPr>
          <p:cNvPr id="19" name="footerLine.22">
            <a:extLst xmlns:a="http://schemas.openxmlformats.org/drawingml/2006/main">
              <a:ext uri="{FF2B5EF4-FFF2-40B4-BE49-F238E27FC236}">
                <a16:creationId xmlns:a16="http://schemas.microsoft.com/office/drawing/2014/main" id="{79E92DB1-4132-43C8-9412-409BDBC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20" name="footerLeft.22">
            <a:extLst xmlns:a="http://schemas.openxmlformats.org/drawingml/2006/main">
              <a:ext uri="{FF2B5EF4-FFF2-40B4-BE49-F238E27FC236}">
                <a16:creationId xmlns:a16="http://schemas.microsoft.com/office/drawing/2014/main" id="{64713C19-8D03-4A0B-9C1D-1626663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21" name="footerRight.22">
            <a:extLst xmlns:a="http://schemas.openxmlformats.org/drawingml/2006/main">
              <a:ext uri="{FF2B5EF4-FFF2-40B4-BE49-F238E27FC236}">
                <a16:creationId xmlns:a16="http://schemas.microsoft.com/office/drawing/2014/main" id="{B359427B-3C5C-42DA-B95A-8D60CC0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23/30</a:t>
            </a:r>
          </a:p>
        </p:txBody>
      </p:sp>
    </p:spTree>
    <p:extLst>
      <p:ext uri="{BB962C8B-B14F-4D97-AF65-F5344CB8AC3E}">
        <p14:creationId xmlns:p14="http://schemas.microsoft.com/office/powerpoint/2010/main" val="4520175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3">
            <a:extLst xmlns:a="http://schemas.openxmlformats.org/drawingml/2006/main">
              <a:ext uri="{FF2B5EF4-FFF2-40B4-BE49-F238E27FC236}">
                <a16:creationId xmlns:a16="http://schemas.microsoft.com/office/drawing/2014/main" id="{B2EDB4E9-6CF9-4FA0-B987-75F7872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3">
            <a:extLst xmlns:a="http://schemas.openxmlformats.org/drawingml/2006/main">
              <a:ext uri="{FF2B5EF4-FFF2-40B4-BE49-F238E27FC236}">
                <a16:creationId xmlns:a16="http://schemas.microsoft.com/office/drawing/2014/main" id="{9153650F-07D3-4747-9C05-D2FA9ED0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23">
            <a:extLst xmlns:a="http://schemas.openxmlformats.org/drawingml/2006/main">
              <a:ext uri="{FF2B5EF4-FFF2-40B4-BE49-F238E27FC236}">
                <a16:creationId xmlns:a16="http://schemas.microsoft.com/office/drawing/2014/main" id="{F4A1EBF5-630F-4884-8C12-9A540579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23">
            <a:extLst xmlns:a="http://schemas.openxmlformats.org/drawingml/2006/main">
              <a:ext uri="{FF2B5EF4-FFF2-40B4-BE49-F238E27FC236}">
                <a16:creationId xmlns:a16="http://schemas.microsoft.com/office/drawing/2014/main" id="{487CD328-A462-4C2D-B1D0-ECC6AC2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3">
            <a:extLst xmlns:a="http://schemas.openxmlformats.org/drawingml/2006/main">
              <a:ext uri="{FF2B5EF4-FFF2-40B4-BE49-F238E27FC236}">
                <a16:creationId xmlns:a16="http://schemas.microsoft.com/office/drawing/2014/main" id="{B6B5BD8E-D790-4528-9D40-336EBA0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3">
            <a:extLst xmlns:a="http://schemas.openxmlformats.org/drawingml/2006/main">
              <a:ext uri="{FF2B5EF4-FFF2-40B4-BE49-F238E27FC236}">
                <a16:creationId xmlns:a16="http://schemas.microsoft.com/office/drawing/2014/main" id="{3A26ED31-96F5-4B2E-B23A-53BD3954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3">
            <a:extLst xmlns:a="http://schemas.openxmlformats.org/drawingml/2006/main">
              <a:ext uri="{FF2B5EF4-FFF2-40B4-BE49-F238E27FC236}">
                <a16:creationId xmlns:a16="http://schemas.microsoft.com/office/drawing/2014/main" id="{4C5275E0-709E-432D-8F33-026EDE8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ERROR CHECK</a:t>
            </a:r>
          </a:p>
        </p:txBody>
      </p:sp>
      <p:sp>
        <p:nvSpPr>
          <p:cNvPr id="8" name="title.23">
            <a:extLst xmlns:a="http://schemas.openxmlformats.org/drawingml/2006/main">
              <a:ext uri="{FF2B5EF4-FFF2-40B4-BE49-F238E27FC236}">
                <a16:creationId xmlns:a16="http://schemas.microsoft.com/office/drawing/2014/main" id="{B89D11E9-AF68-454D-8C55-6183D12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Common Mistakes</a:t>
            </a:r>
          </a:p>
        </p:txBody>
      </p:sp>
      <p:sp>
        <p:nvSpPr>
          <p:cNvPr id="9" name="subtitle.23">
            <a:extLst xmlns:a="http://schemas.openxmlformats.org/drawingml/2006/main">
              <a:ext uri="{FF2B5EF4-FFF2-40B4-BE49-F238E27FC236}">
                <a16:creationId xmlns:a16="http://schemas.microsoft.com/office/drawing/2014/main" id="{2CE4C223-801A-4FE2-BF60-E5DE89E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Most misses are notation or sign errors, not concept failures.</a:t>
            </a:r>
          </a:p>
        </p:txBody>
      </p:sp>
      <p:sp>
        <p:nvSpPr>
          <p:cNvPr id="10" name="formulaCard.23">
            <a:extLst xmlns:a="http://schemas.openxmlformats.org/drawingml/2006/main">
              <a:ext uri="{FF2B5EF4-FFF2-40B4-BE49-F238E27FC236}">
                <a16:creationId xmlns:a16="http://schemas.microsoft.com/office/drawing/2014/main" id="{455E54CC-CF33-4245-B69E-64E8B8C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23">
            <a:extLst xmlns:a="http://schemas.openxmlformats.org/drawingml/2006/main">
              <a:ext uri="{FF2B5EF4-FFF2-40B4-BE49-F238E27FC236}">
                <a16:creationId xmlns:a16="http://schemas.microsoft.com/office/drawing/2014/main" id="{CCBC764B-902A-4E9E-95B8-0BFEAAB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Differentiate your antiderivative to check it.</a:t>
            </a:r>
          </a:p>
        </p:txBody>
      </p:sp>
      <p:sp>
        <p:nvSpPr>
          <p:cNvPr id="12" name="bullets.23">
            <a:extLst xmlns:a="http://schemas.openxmlformats.org/drawingml/2006/main">
              <a:ext uri="{FF2B5EF4-FFF2-40B4-BE49-F238E27FC236}">
                <a16:creationId xmlns:a16="http://schemas.microsoft.com/office/drawing/2014/main" id="{2270B4FF-2CD2-473E-BA75-8B1F4A3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Forgetting +C on indefinite integrals.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Adding +C to final definite-integral answers.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Mixing changed u-bounds with x-expressions.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Dropping a negative sign when reversing bounds.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Forgetting absolute value in logarithmic antiderivatives.</a:t>
            </a:r>
          </a:p>
        </p:txBody>
      </p:sp>
      <p:sp>
        <p:nvSpPr>
          <p:cNvPr id="13" name="iconCard.23">
            <a:extLst xmlns:a="http://schemas.openxmlformats.org/drawingml/2006/main">
              <a:ext uri="{FF2B5EF4-FFF2-40B4-BE49-F238E27FC236}">
                <a16:creationId xmlns:a16="http://schemas.microsoft.com/office/drawing/2014/main" id="{2453F275-5E1A-4573-8301-8D554C0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23">
            <a:extLst xmlns:a="http://schemas.openxmlformats.org/drawingml/2006/main">
              <a:ext uri="{FF2B5EF4-FFF2-40B4-BE49-F238E27FC236}">
                <a16:creationId xmlns:a16="http://schemas.microsoft.com/office/drawing/2014/main" id="{786B6A1A-0E3B-4E3C-AC5B-4E97E2FD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23">
            <a:extLst xmlns:a="http://schemas.openxmlformats.org/drawingml/2006/main">
              <a:ext uri="{FF2B5EF4-FFF2-40B4-BE49-F238E27FC236}">
                <a16:creationId xmlns:a16="http://schemas.microsoft.com/office/drawing/2014/main" id="{28A1FBC0-67EE-4C9C-8CB9-C1EC7C2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 Resort</a:t>
            </a:r>
          </a:p>
        </p:txBody>
      </p:sp>
      <p:sp>
        <p:nvSpPr>
          <p:cNvPr id="16" name="notes.23">
            <a:extLst xmlns:a="http://schemas.openxmlformats.org/drawingml/2006/main">
              <a:ext uri="{FF2B5EF4-FFF2-40B4-BE49-F238E27FC236}">
                <a16:creationId xmlns:a16="http://schemas.microsoft.com/office/drawing/2014/main" id="{F293298E-4A82-4793-AE27-64F2AD1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this before starting the live quiz so students know what to watch for.</a:t>
            </a:r>
          </a:p>
        </p:txBody>
      </p:sp>
      <p:sp>
        <p:nvSpPr>
          <p:cNvPr id="17" name="footerLine.23">
            <a:extLst xmlns:a="http://schemas.openxmlformats.org/drawingml/2006/main">
              <a:ext uri="{FF2B5EF4-FFF2-40B4-BE49-F238E27FC236}">
                <a16:creationId xmlns:a16="http://schemas.microsoft.com/office/drawing/2014/main" id="{C9477BB3-60E1-417A-8492-EFA54A46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3">
            <a:extLst xmlns:a="http://schemas.openxmlformats.org/drawingml/2006/main">
              <a:ext uri="{FF2B5EF4-FFF2-40B4-BE49-F238E27FC236}">
                <a16:creationId xmlns:a16="http://schemas.microsoft.com/office/drawing/2014/main" id="{FFFB55DE-C182-494B-8629-41A66402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3">
            <a:extLst xmlns:a="http://schemas.openxmlformats.org/drawingml/2006/main">
              <a:ext uri="{FF2B5EF4-FFF2-40B4-BE49-F238E27FC236}">
                <a16:creationId xmlns:a16="http://schemas.microsoft.com/office/drawing/2014/main" id="{EA4E2702-F9B6-43FF-A700-E98320E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24/30</a:t>
            </a:r>
          </a:p>
        </p:txBody>
      </p:sp>
    </p:spTree>
    <p:extLst>
      <p:ext uri="{BB962C8B-B14F-4D97-AF65-F5344CB8AC3E}">
        <p14:creationId xmlns:p14="http://schemas.microsoft.com/office/powerpoint/2010/main" val="12480266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4">
            <a:extLst xmlns:a="http://schemas.openxmlformats.org/drawingml/2006/main">
              <a:ext uri="{FF2B5EF4-FFF2-40B4-BE49-F238E27FC236}">
                <a16:creationId xmlns:a16="http://schemas.microsoft.com/office/drawing/2014/main" id="{86C2CE5C-33FB-44A8-9DB4-9554E3EE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4">
            <a:extLst xmlns:a="http://schemas.openxmlformats.org/drawingml/2006/main">
              <a:ext uri="{FF2B5EF4-FFF2-40B4-BE49-F238E27FC236}">
                <a16:creationId xmlns:a16="http://schemas.microsoft.com/office/drawing/2014/main" id="{8D43E582-DBEA-45A7-8319-F47FA38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24">
            <a:extLst xmlns:a="http://schemas.openxmlformats.org/drawingml/2006/main">
              <a:ext uri="{FF2B5EF4-FFF2-40B4-BE49-F238E27FC236}">
                <a16:creationId xmlns:a16="http://schemas.microsoft.com/office/drawing/2014/main" id="{6BAACDF7-9DF1-4FBD-A559-D8639B1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4">
            <a:extLst xmlns:a="http://schemas.openxmlformats.org/drawingml/2006/main">
              <a:ext uri="{FF2B5EF4-FFF2-40B4-BE49-F238E27FC236}">
                <a16:creationId xmlns:a16="http://schemas.microsoft.com/office/drawing/2014/main" id="{06FB4278-B383-480A-A0F5-933F31D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4">
            <a:extLst xmlns:a="http://schemas.openxmlformats.org/drawingml/2006/main">
              <a:ext uri="{FF2B5EF4-FFF2-40B4-BE49-F238E27FC236}">
                <a16:creationId xmlns:a16="http://schemas.microsoft.com/office/drawing/2014/main" id="{08503B78-3ED5-49C2-BAA3-2FE7198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4">
            <a:extLst xmlns:a="http://schemas.openxmlformats.org/drawingml/2006/main">
              <a:ext uri="{FF2B5EF4-FFF2-40B4-BE49-F238E27FC236}">
                <a16:creationId xmlns:a16="http://schemas.microsoft.com/office/drawing/2014/main" id="{8D0A8F53-2C0A-4759-A29C-C6917994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4">
            <a:extLst xmlns:a="http://schemas.openxmlformats.org/drawingml/2006/main">
              <a:ext uri="{FF2B5EF4-FFF2-40B4-BE49-F238E27FC236}">
                <a16:creationId xmlns:a16="http://schemas.microsoft.com/office/drawing/2014/main" id="{C0BDD22B-736C-4407-B63D-1B296D7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GAME RULES</a:t>
            </a:r>
          </a:p>
        </p:txBody>
      </p:sp>
      <p:sp>
        <p:nvSpPr>
          <p:cNvPr id="8" name="title.24">
            <a:extLst xmlns:a="http://schemas.openxmlformats.org/drawingml/2006/main">
              <a:ext uri="{FF2B5EF4-FFF2-40B4-BE49-F238E27FC236}">
                <a16:creationId xmlns:a16="http://schemas.microsoft.com/office/drawing/2014/main" id="{7BDA8878-5C66-4716-87B2-E51A2C03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How the Quiz Awards Points</a:t>
            </a:r>
          </a:p>
        </p:txBody>
      </p:sp>
      <p:sp>
        <p:nvSpPr>
          <p:cNvPr id="9" name="subtitle.24">
            <a:extLst xmlns:a="http://schemas.openxmlformats.org/drawingml/2006/main">
              <a:ext uri="{FF2B5EF4-FFF2-40B4-BE49-F238E27FC236}">
                <a16:creationId xmlns:a16="http://schemas.microsoft.com/office/drawing/2014/main" id="{F5F1C7DD-3102-456A-96B0-EC927B5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525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Correct reasoning matters, but speed and streaks add game energy.</a:t>
            </a:r>
          </a:p>
        </p:txBody>
      </p:sp>
      <p:sp>
        <p:nvSpPr>
          <p:cNvPr id="10" name="formulaCard.24">
            <a:extLst xmlns:a="http://schemas.openxmlformats.org/drawingml/2006/main">
              <a:ext uri="{FF2B5EF4-FFF2-40B4-BE49-F238E27FC236}">
                <a16:creationId xmlns:a16="http://schemas.microsoft.com/office/drawing/2014/main" id="{ED16254D-5F18-461B-BDC6-0C0B5816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4">
            <a:extLst xmlns:a="http://schemas.openxmlformats.org/drawingml/2006/main">
              <a:ext uri="{FF2B5EF4-FFF2-40B4-BE49-F238E27FC236}">
                <a16:creationId xmlns:a16="http://schemas.microsoft.com/office/drawing/2014/main" id="{EDF5A19C-7DC6-4C79-B1DE-AD0EDB4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 = base + speed bonus + streak bonus + badge bonus</a:t>
            </a:r>
          </a:p>
        </p:txBody>
      </p:sp>
      <p:sp>
        <p:nvSpPr>
          <p:cNvPr id="12" name="bullets.24">
            <a:extLst xmlns:a="http://schemas.openxmlformats.org/drawingml/2006/main">
              <a:ext uri="{FF2B5EF4-FFF2-40B4-BE49-F238E27FC236}">
                <a16:creationId xmlns:a16="http://schemas.microsoft.com/office/drawing/2014/main" id="{BF444615-5260-49E5-A72B-8FC90DA5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Each question has a base point value.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Faster correct answers earn a speed bonus.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Consecutive correct answers build a streak bonus.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Three-question streaks earn a themed badge bonus.</a:t>
            </a:r>
          </a:p>
        </p:txBody>
      </p:sp>
      <p:sp>
        <p:nvSpPr>
          <p:cNvPr id="13" name="iconCard.24">
            <a:extLst xmlns:a="http://schemas.openxmlformats.org/drawingml/2006/main">
              <a:ext uri="{FF2B5EF4-FFF2-40B4-BE49-F238E27FC236}">
                <a16:creationId xmlns:a16="http://schemas.microsoft.com/office/drawing/2014/main" id="{FFB9338D-4CA5-4556-92AE-6318768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4">
            <a:extLst xmlns:a="http://schemas.openxmlformats.org/drawingml/2006/main">
              <a:ext uri="{FF2B5EF4-FFF2-40B4-BE49-F238E27FC236}">
                <a16:creationId xmlns:a16="http://schemas.microsoft.com/office/drawing/2014/main" id="{2C043C0C-D8BE-46A5-B13A-E9B155A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🏆</a:t>
            </a:r>
          </a:p>
        </p:txBody>
      </p:sp>
      <p:sp>
        <p:nvSpPr>
          <p:cNvPr id="15" name="theme.24">
            <a:extLst xmlns:a="http://schemas.openxmlformats.org/drawingml/2006/main">
              <a:ext uri="{FF2B5EF4-FFF2-40B4-BE49-F238E27FC236}">
                <a16:creationId xmlns:a16="http://schemas.microsoft.com/office/drawing/2014/main" id="{1DFE27AD-A4A9-457E-82B8-E02474F0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Scoreboard</a:t>
            </a:r>
          </a:p>
        </p:txBody>
      </p:sp>
      <p:sp>
        <p:nvSpPr>
          <p:cNvPr id="16" name="notes.24">
            <a:extLst xmlns:a="http://schemas.openxmlformats.org/drawingml/2006/main">
              <a:ext uri="{FF2B5EF4-FFF2-40B4-BE49-F238E27FC236}">
                <a16:creationId xmlns:a16="http://schemas.microsoft.com/office/drawing/2014/main" id="{6C0FFDEB-F392-4832-9601-70AEB8E7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where you explain that the code creates classroom engagement, not just a worksheet.</a:t>
            </a:r>
          </a:p>
        </p:txBody>
      </p:sp>
      <p:sp>
        <p:nvSpPr>
          <p:cNvPr id="17" name="footerLine.24">
            <a:extLst xmlns:a="http://schemas.openxmlformats.org/drawingml/2006/main">
              <a:ext uri="{FF2B5EF4-FFF2-40B4-BE49-F238E27FC236}">
                <a16:creationId xmlns:a16="http://schemas.microsoft.com/office/drawing/2014/main" id="{7A8E39F4-F5BC-4698-B426-A5FD74AE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4">
            <a:extLst xmlns:a="http://schemas.openxmlformats.org/drawingml/2006/main">
              <a:ext uri="{FF2B5EF4-FFF2-40B4-BE49-F238E27FC236}">
                <a16:creationId xmlns:a16="http://schemas.microsoft.com/office/drawing/2014/main" id="{30D07133-8323-4453-87B1-9B94C9A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4">
            <a:extLst xmlns:a="http://schemas.openxmlformats.org/drawingml/2006/main">
              <a:ext uri="{FF2B5EF4-FFF2-40B4-BE49-F238E27FC236}">
                <a16:creationId xmlns:a16="http://schemas.microsoft.com/office/drawing/2014/main" id="{5D9E7065-9BA7-44DB-B3EF-8F441EBC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25/30</a:t>
            </a:r>
          </a:p>
        </p:txBody>
      </p:sp>
    </p:spTree>
    <p:extLst>
      <p:ext uri="{BB962C8B-B14F-4D97-AF65-F5344CB8AC3E}">
        <p14:creationId xmlns:p14="http://schemas.microsoft.com/office/powerpoint/2010/main" val="13967431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5">
            <a:extLst xmlns:a="http://schemas.openxmlformats.org/drawingml/2006/main">
              <a:ext uri="{FF2B5EF4-FFF2-40B4-BE49-F238E27FC236}">
                <a16:creationId xmlns:a16="http://schemas.microsoft.com/office/drawing/2014/main" id="{EDD809BA-0971-43C5-B596-F31730B4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5">
            <a:extLst xmlns:a="http://schemas.openxmlformats.org/drawingml/2006/main">
              <a:ext uri="{FF2B5EF4-FFF2-40B4-BE49-F238E27FC236}">
                <a16:creationId xmlns:a16="http://schemas.microsoft.com/office/drawing/2014/main" id="{E29D2949-E745-4982-B71D-4369861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25">
            <a:extLst xmlns:a="http://schemas.openxmlformats.org/drawingml/2006/main">
              <a:ext uri="{FF2B5EF4-FFF2-40B4-BE49-F238E27FC236}">
                <a16:creationId xmlns:a16="http://schemas.microsoft.com/office/drawing/2014/main" id="{0D932C02-8847-4AA3-9C07-9FAE29AE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25">
            <a:extLst xmlns:a="http://schemas.openxmlformats.org/drawingml/2006/main">
              <a:ext uri="{FF2B5EF4-FFF2-40B4-BE49-F238E27FC236}">
                <a16:creationId xmlns:a16="http://schemas.microsoft.com/office/drawing/2014/main" id="{B4F9713B-0112-4CA5-82CB-41922122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5">
            <a:extLst xmlns:a="http://schemas.openxmlformats.org/drawingml/2006/main">
              <a:ext uri="{FF2B5EF4-FFF2-40B4-BE49-F238E27FC236}">
                <a16:creationId xmlns:a16="http://schemas.microsoft.com/office/drawing/2014/main" id="{B14D83FD-8D11-4FD0-8C06-BFF22BF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5">
            <a:extLst xmlns:a="http://schemas.openxmlformats.org/drawingml/2006/main">
              <a:ext uri="{FF2B5EF4-FFF2-40B4-BE49-F238E27FC236}">
                <a16:creationId xmlns:a16="http://schemas.microsoft.com/office/drawing/2014/main" id="{5A6D8209-6B1C-49CD-82A8-2703CF86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5">
            <a:extLst xmlns:a="http://schemas.openxmlformats.org/drawingml/2006/main">
              <a:ext uri="{FF2B5EF4-FFF2-40B4-BE49-F238E27FC236}">
                <a16:creationId xmlns:a16="http://schemas.microsoft.com/office/drawing/2014/main" id="{02DBE0E5-D471-46BB-BEEC-4EE3C15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8" name="title.25">
            <a:extLst xmlns:a="http://schemas.openxmlformats.org/drawingml/2006/main">
              <a:ext uri="{FF2B5EF4-FFF2-40B4-BE49-F238E27FC236}">
                <a16:creationId xmlns:a16="http://schemas.microsoft.com/office/drawing/2014/main" id="{C1B2E51F-E775-4FF6-8428-8CAAACAB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Teacher-Led Practice Round</a:t>
            </a:r>
          </a:p>
        </p:txBody>
      </p:sp>
      <p:sp>
        <p:nvSpPr>
          <p:cNvPr id="9" name="subtitle.25">
            <a:extLst xmlns:a="http://schemas.openxmlformats.org/drawingml/2006/main">
              <a:ext uri="{FF2B5EF4-FFF2-40B4-BE49-F238E27FC236}">
                <a16:creationId xmlns:a16="http://schemas.microsoft.com/office/drawing/2014/main" id="{3864BD19-547B-4B02-8AB2-24BDA85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Use these before launching the multiplayer game.</a:t>
            </a:r>
          </a:p>
        </p:txBody>
      </p:sp>
      <p:sp>
        <p:nvSpPr>
          <p:cNvPr id="10" name="formulaCard.25">
            <a:extLst xmlns:a="http://schemas.openxmlformats.org/drawingml/2006/main">
              <a:ext uri="{FF2B5EF4-FFF2-40B4-BE49-F238E27FC236}">
                <a16:creationId xmlns:a16="http://schemas.microsoft.com/office/drawing/2014/main" id="{C3F450EA-55B1-4F33-BC8F-204F5F4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25">
            <a:extLst xmlns:a="http://schemas.openxmlformats.org/drawingml/2006/main">
              <a:ext uri="{FF2B5EF4-FFF2-40B4-BE49-F238E27FC236}">
                <a16:creationId xmlns:a16="http://schemas.microsoft.com/office/drawing/2014/main" id="{A10AC1CA-2F7F-4D3C-966D-2C92FA6D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Pause → predict method → solve → explain</a:t>
            </a:r>
          </a:p>
        </p:txBody>
      </p:sp>
      <p:sp>
        <p:nvSpPr>
          <p:cNvPr id="12" name="bullets.25">
            <a:extLst xmlns:a="http://schemas.openxmlformats.org/drawingml/2006/main">
              <a:ext uri="{FF2B5EF4-FFF2-40B4-BE49-F238E27FC236}">
                <a16:creationId xmlns:a16="http://schemas.microsoft.com/office/drawing/2014/main" id="{E4521A39-CD87-4CCD-AA65-B91371A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Question 1: Which method fits ∫cos(x)e^{sin x}dx?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Question 2: Evaluate ∫_0^2 6t^2dt.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Question 3: Does ∫_1^∞1/x^{3/2}dx converge?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Question 4: Find d/dx ∫_1^{x^2}cos(t)dt.</a:t>
            </a:r>
          </a:p>
        </p:txBody>
      </p:sp>
      <p:sp>
        <p:nvSpPr>
          <p:cNvPr id="13" name="iconCard.25">
            <a:extLst xmlns:a="http://schemas.openxmlformats.org/drawingml/2006/main">
              <a:ext uri="{FF2B5EF4-FFF2-40B4-BE49-F238E27FC236}">
                <a16:creationId xmlns:a16="http://schemas.microsoft.com/office/drawing/2014/main" id="{274381E9-509F-4F58-A26D-47C79BD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25">
            <a:extLst xmlns:a="http://schemas.openxmlformats.org/drawingml/2006/main">
              <a:ext uri="{FF2B5EF4-FFF2-40B4-BE49-F238E27FC236}">
                <a16:creationId xmlns:a16="http://schemas.microsoft.com/office/drawing/2014/main" id="{088E36B6-101A-4FFB-85FC-9A33D1B0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📐</a:t>
            </a:r>
          </a:p>
        </p:txBody>
      </p:sp>
      <p:sp>
        <p:nvSpPr>
          <p:cNvPr id="15" name="theme.25">
            <a:extLst xmlns:a="http://schemas.openxmlformats.org/drawingml/2006/main">
              <a:ext uri="{FF2B5EF4-FFF2-40B4-BE49-F238E27FC236}">
                <a16:creationId xmlns:a16="http://schemas.microsoft.com/office/drawing/2014/main" id="{A0249F64-A092-4C79-8BBC-0E4DA1B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Mickey's Lessons</a:t>
            </a:r>
          </a:p>
        </p:txBody>
      </p:sp>
      <p:sp>
        <p:nvSpPr>
          <p:cNvPr id="16" name="notes.25">
            <a:extLst xmlns:a="http://schemas.openxmlformats.org/drawingml/2006/main">
              <a:ext uri="{FF2B5EF4-FFF2-40B4-BE49-F238E27FC236}">
                <a16:creationId xmlns:a16="http://schemas.microsoft.com/office/drawing/2014/main" id="{BFA1334D-554D-4630-831B-5B774A9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Have students answer verbally first, then start the game.</a:t>
            </a:r>
          </a:p>
        </p:txBody>
      </p:sp>
      <p:sp>
        <p:nvSpPr>
          <p:cNvPr id="17" name="footerLine.25">
            <a:extLst xmlns:a="http://schemas.openxmlformats.org/drawingml/2006/main">
              <a:ext uri="{FF2B5EF4-FFF2-40B4-BE49-F238E27FC236}">
                <a16:creationId xmlns:a16="http://schemas.microsoft.com/office/drawing/2014/main" id="{3A9CBC14-5AE2-4D3E-A4F0-12C7385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5">
            <a:extLst xmlns:a="http://schemas.openxmlformats.org/drawingml/2006/main">
              <a:ext uri="{FF2B5EF4-FFF2-40B4-BE49-F238E27FC236}">
                <a16:creationId xmlns:a16="http://schemas.microsoft.com/office/drawing/2014/main" id="{45D9F1F6-2CB1-4473-BAAB-2D3E8AC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5">
            <a:extLst xmlns:a="http://schemas.openxmlformats.org/drawingml/2006/main">
              <a:ext uri="{FF2B5EF4-FFF2-40B4-BE49-F238E27FC236}">
                <a16:creationId xmlns:a16="http://schemas.microsoft.com/office/drawing/2014/main" id="{778720BA-8C41-44F4-9D59-51A6B21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26/30</a:t>
            </a:r>
          </a:p>
        </p:txBody>
      </p:sp>
    </p:spTree>
    <p:extLst>
      <p:ext uri="{BB962C8B-B14F-4D97-AF65-F5344CB8AC3E}">
        <p14:creationId xmlns:p14="http://schemas.microsoft.com/office/powerpoint/2010/main" val="13481949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6">
            <a:extLst xmlns:a="http://schemas.openxmlformats.org/drawingml/2006/main">
              <a:ext uri="{FF2B5EF4-FFF2-40B4-BE49-F238E27FC236}">
                <a16:creationId xmlns:a16="http://schemas.microsoft.com/office/drawing/2014/main" id="{7EF0FBC8-8E14-46D3-BD60-C985749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6">
            <a:extLst xmlns:a="http://schemas.openxmlformats.org/drawingml/2006/main">
              <a:ext uri="{FF2B5EF4-FFF2-40B4-BE49-F238E27FC236}">
                <a16:creationId xmlns:a16="http://schemas.microsoft.com/office/drawing/2014/main" id="{A6F819B7-EE54-4D35-96ED-CAC214C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26">
            <a:extLst xmlns:a="http://schemas.openxmlformats.org/drawingml/2006/main">
              <a:ext uri="{FF2B5EF4-FFF2-40B4-BE49-F238E27FC236}">
                <a16:creationId xmlns:a16="http://schemas.microsoft.com/office/drawing/2014/main" id="{1C6B3E3E-25BB-457B-A89C-0394669E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6">
            <a:extLst xmlns:a="http://schemas.openxmlformats.org/drawingml/2006/main">
              <a:ext uri="{FF2B5EF4-FFF2-40B4-BE49-F238E27FC236}">
                <a16:creationId xmlns:a16="http://schemas.microsoft.com/office/drawing/2014/main" id="{37A57974-1303-482B-87FC-19C26F8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6">
            <a:extLst xmlns:a="http://schemas.openxmlformats.org/drawingml/2006/main">
              <a:ext uri="{FF2B5EF4-FFF2-40B4-BE49-F238E27FC236}">
                <a16:creationId xmlns:a16="http://schemas.microsoft.com/office/drawing/2014/main" id="{721EDFA5-1B38-4D0B-AEE4-A88AB51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6">
            <a:extLst xmlns:a="http://schemas.openxmlformats.org/drawingml/2006/main">
              <a:ext uri="{FF2B5EF4-FFF2-40B4-BE49-F238E27FC236}">
                <a16:creationId xmlns:a16="http://schemas.microsoft.com/office/drawing/2014/main" id="{B5F2E794-7596-4DA6-816E-D22C82B7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6">
            <a:extLst xmlns:a="http://schemas.openxmlformats.org/drawingml/2006/main">
              <a:ext uri="{FF2B5EF4-FFF2-40B4-BE49-F238E27FC236}">
                <a16:creationId xmlns:a16="http://schemas.microsoft.com/office/drawing/2014/main" id="{6BECC360-0F31-4D58-9739-D297E87D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8" name="title.26">
            <a:extLst xmlns:a="http://schemas.openxmlformats.org/drawingml/2006/main">
              <a:ext uri="{FF2B5EF4-FFF2-40B4-BE49-F238E27FC236}">
                <a16:creationId xmlns:a16="http://schemas.microsoft.com/office/drawing/2014/main" id="{3F13EEDD-741E-4E2E-8688-2846077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How This Becomes a Website</a:t>
            </a:r>
          </a:p>
        </p:txBody>
      </p:sp>
      <p:sp>
        <p:nvSpPr>
          <p:cNvPr id="9" name="subtitle.26">
            <a:extLst xmlns:a="http://schemas.openxmlformats.org/drawingml/2006/main">
              <a:ext uri="{FF2B5EF4-FFF2-40B4-BE49-F238E27FC236}">
                <a16:creationId xmlns:a16="http://schemas.microsoft.com/office/drawing/2014/main" id="{ECEBA46C-E915-4DC6-BA0E-52CFEA9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Notion is the lesson hub; JavaScript powers the live game.</a:t>
            </a:r>
          </a:p>
        </p:txBody>
      </p:sp>
      <p:sp>
        <p:nvSpPr>
          <p:cNvPr id="10" name="formulaCard.26">
            <a:extLst xmlns:a="http://schemas.openxmlformats.org/drawingml/2006/main">
              <a:ext uri="{FF2B5EF4-FFF2-40B4-BE49-F238E27FC236}">
                <a16:creationId xmlns:a16="http://schemas.microsoft.com/office/drawing/2014/main" id="{F2CB8B8E-2387-4D85-9769-C2000B8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6">
            <a:extLst xmlns:a="http://schemas.openxmlformats.org/drawingml/2006/main">
              <a:ext uri="{FF2B5EF4-FFF2-40B4-BE49-F238E27FC236}">
                <a16:creationId xmlns:a16="http://schemas.microsoft.com/office/drawing/2014/main" id="{D897E7ED-122B-4E14-A566-28FD5A70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Notion page + hosted app URL + /embed</a:t>
            </a:r>
          </a:p>
        </p:txBody>
      </p:sp>
      <p:sp>
        <p:nvSpPr>
          <p:cNvPr id="12" name="bullets.26">
            <a:extLst xmlns:a="http://schemas.openxmlformats.org/drawingml/2006/main">
              <a:ext uri="{FF2B5EF4-FFF2-40B4-BE49-F238E27FC236}">
                <a16:creationId xmlns:a16="http://schemas.microsoft.com/office/drawing/2014/main" id="{FA5B3E72-DDF8-43F1-98E5-EFFF4FE5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Notion gallery acts like the project navigation.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live quiz runs as a real website at the hosted URL.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Notion embeds that website so classmates can play inside the page.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question bank remains editable in data/questions.js.</a:t>
            </a:r>
          </a:p>
        </p:txBody>
      </p:sp>
      <p:sp>
        <p:nvSpPr>
          <p:cNvPr id="13" name="iconCard.26">
            <a:extLst xmlns:a="http://schemas.openxmlformats.org/drawingml/2006/main">
              <a:ext uri="{FF2B5EF4-FFF2-40B4-BE49-F238E27FC236}">
                <a16:creationId xmlns:a16="http://schemas.microsoft.com/office/drawing/2014/main" id="{16F353D3-F127-433D-A947-5BE0B245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6">
            <a:extLst xmlns:a="http://schemas.openxmlformats.org/drawingml/2006/main">
              <a:ext uri="{FF2B5EF4-FFF2-40B4-BE49-F238E27FC236}">
                <a16:creationId xmlns:a16="http://schemas.microsoft.com/office/drawing/2014/main" id="{C2E39389-742C-4233-8853-7DA6270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26">
            <a:extLst xmlns:a="http://schemas.openxmlformats.org/drawingml/2006/main">
              <a:ext uri="{FF2B5EF4-FFF2-40B4-BE49-F238E27FC236}">
                <a16:creationId xmlns:a16="http://schemas.microsoft.com/office/drawing/2014/main" id="{AE68D166-6044-4006-AC37-805C68F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Notion Embed</a:t>
            </a:r>
          </a:p>
        </p:txBody>
      </p:sp>
      <p:sp>
        <p:nvSpPr>
          <p:cNvPr id="16" name="notes.26">
            <a:extLst xmlns:a="http://schemas.openxmlformats.org/drawingml/2006/main">
              <a:ext uri="{FF2B5EF4-FFF2-40B4-BE49-F238E27FC236}">
                <a16:creationId xmlns:a16="http://schemas.microsoft.com/office/drawing/2014/main" id="{9C6CDDE0-BC5C-4CF4-B45A-51E63324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is the clean explanation for why the project uses both Notion and JavaScript.</a:t>
            </a:r>
          </a:p>
        </p:txBody>
      </p:sp>
      <p:sp>
        <p:nvSpPr>
          <p:cNvPr id="17" name="footerLine.26">
            <a:extLst xmlns:a="http://schemas.openxmlformats.org/drawingml/2006/main">
              <a:ext uri="{FF2B5EF4-FFF2-40B4-BE49-F238E27FC236}">
                <a16:creationId xmlns:a16="http://schemas.microsoft.com/office/drawing/2014/main" id="{7B52AD70-A47D-4F36-B2AF-1225C7B4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6">
            <a:extLst xmlns:a="http://schemas.openxmlformats.org/drawingml/2006/main">
              <a:ext uri="{FF2B5EF4-FFF2-40B4-BE49-F238E27FC236}">
                <a16:creationId xmlns:a16="http://schemas.microsoft.com/office/drawing/2014/main" id="{F3D5C2CE-F45F-4ACB-BDA2-9FEB87D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6">
            <a:extLst xmlns:a="http://schemas.openxmlformats.org/drawingml/2006/main">
              <a:ext uri="{FF2B5EF4-FFF2-40B4-BE49-F238E27FC236}">
                <a16:creationId xmlns:a16="http://schemas.microsoft.com/office/drawing/2014/main" id="{A6BC5164-156F-4C15-97EE-8C0D4173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27/30</a:t>
            </a:r>
          </a:p>
        </p:txBody>
      </p:sp>
    </p:spTree>
    <p:extLst>
      <p:ext uri="{BB962C8B-B14F-4D97-AF65-F5344CB8AC3E}">
        <p14:creationId xmlns:p14="http://schemas.microsoft.com/office/powerpoint/2010/main" val="11804911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7">
            <a:extLst xmlns:a="http://schemas.openxmlformats.org/drawingml/2006/main">
              <a:ext uri="{FF2B5EF4-FFF2-40B4-BE49-F238E27FC236}">
                <a16:creationId xmlns:a16="http://schemas.microsoft.com/office/drawing/2014/main" id="{BF6062C8-C6AF-41C0-907B-EA6C22A0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7">
            <a:extLst xmlns:a="http://schemas.openxmlformats.org/drawingml/2006/main">
              <a:ext uri="{FF2B5EF4-FFF2-40B4-BE49-F238E27FC236}">
                <a16:creationId xmlns:a16="http://schemas.microsoft.com/office/drawing/2014/main" id="{3C358C80-9441-43F3-85F6-D25385F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3" name="glow.27">
            <a:extLst xmlns:a="http://schemas.openxmlformats.org/drawingml/2006/main">
              <a:ext uri="{FF2B5EF4-FFF2-40B4-BE49-F238E27FC236}">
                <a16:creationId xmlns:a16="http://schemas.microsoft.com/office/drawing/2014/main" id="{F0DA2B89-2FA0-4127-86E3-BAF9EE3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27">
            <a:extLst xmlns:a="http://schemas.openxmlformats.org/drawingml/2006/main">
              <a:ext uri="{FF2B5EF4-FFF2-40B4-BE49-F238E27FC236}">
                <a16:creationId xmlns:a16="http://schemas.microsoft.com/office/drawing/2014/main" id="{D1A4D66E-74D3-4823-B603-0A2DDFD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7">
            <a:extLst xmlns:a="http://schemas.openxmlformats.org/drawingml/2006/main">
              <a:ext uri="{FF2B5EF4-FFF2-40B4-BE49-F238E27FC236}">
                <a16:creationId xmlns:a16="http://schemas.microsoft.com/office/drawing/2014/main" id="{41BAF8F9-FE82-4754-92E2-54CE95B0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7">
            <a:extLst xmlns:a="http://schemas.openxmlformats.org/drawingml/2006/main">
              <a:ext uri="{FF2B5EF4-FFF2-40B4-BE49-F238E27FC236}">
                <a16:creationId xmlns:a16="http://schemas.microsoft.com/office/drawing/2014/main" id="{36D3E905-11B8-4532-BD70-3129E6C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7">
            <a:extLst xmlns:a="http://schemas.openxmlformats.org/drawingml/2006/main">
              <a:ext uri="{FF2B5EF4-FFF2-40B4-BE49-F238E27FC236}">
                <a16:creationId xmlns:a16="http://schemas.microsoft.com/office/drawing/2014/main" id="{3D7A25AD-0945-45F7-A677-F2CC1E7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8" name="title.27">
            <a:extLst xmlns:a="http://schemas.openxmlformats.org/drawingml/2006/main">
              <a:ext uri="{FF2B5EF4-FFF2-40B4-BE49-F238E27FC236}">
                <a16:creationId xmlns:a16="http://schemas.microsoft.com/office/drawing/2014/main" id="{539BA61B-C554-47C2-AB35-514B859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Student Deliverable</a:t>
            </a:r>
          </a:p>
        </p:txBody>
      </p:sp>
      <p:sp>
        <p:nvSpPr>
          <p:cNvPr id="9" name="subtitle.27">
            <a:extLst xmlns:a="http://schemas.openxmlformats.org/drawingml/2006/main">
              <a:ext uri="{FF2B5EF4-FFF2-40B4-BE49-F238E27FC236}">
                <a16:creationId xmlns:a16="http://schemas.microsoft.com/office/drawing/2014/main" id="{3A8AF8FB-C8AE-4CE0-B193-68CD01AB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The game produces engagement; the notebook proves learning.</a:t>
            </a:r>
          </a:p>
        </p:txBody>
      </p:sp>
      <p:sp>
        <p:nvSpPr>
          <p:cNvPr id="10" name="formulaCard.27">
            <a:extLst xmlns:a="http://schemas.openxmlformats.org/drawingml/2006/main">
              <a:ext uri="{FF2B5EF4-FFF2-40B4-BE49-F238E27FC236}">
                <a16:creationId xmlns:a16="http://schemas.microsoft.com/office/drawing/2014/main" id="{80B292DD-7E9F-4556-B13F-6E59876C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27">
            <a:extLst xmlns:a="http://schemas.openxmlformats.org/drawingml/2006/main">
              <a:ext uri="{FF2B5EF4-FFF2-40B4-BE49-F238E27FC236}">
                <a16:creationId xmlns:a16="http://schemas.microsoft.com/office/drawing/2014/main" id="{B26A8383-D2DA-4CCA-BDEB-C7D9624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 + answer + one-sentence justification</a:t>
            </a:r>
          </a:p>
        </p:txBody>
      </p:sp>
      <p:sp>
        <p:nvSpPr>
          <p:cNvPr id="12" name="bullets.27">
            <a:extLst xmlns:a="http://schemas.openxmlformats.org/drawingml/2006/main">
              <a:ext uri="{FF2B5EF4-FFF2-40B4-BE49-F238E27FC236}">
                <a16:creationId xmlns:a16="http://schemas.microsoft.com/office/drawing/2014/main" id="{B74F4249-6337-436A-B54E-F768DDF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Students record at least four solved questions.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Each record includes the integration method.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Each record includes the final answer.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Each record includes one sentence explaining why the method works.</a:t>
            </a:r>
          </a:p>
        </p:txBody>
      </p:sp>
      <p:sp>
        <p:nvSpPr>
          <p:cNvPr id="13" name="iconCard.27">
            <a:extLst xmlns:a="http://schemas.openxmlformats.org/drawingml/2006/main">
              <a:ext uri="{FF2B5EF4-FFF2-40B4-BE49-F238E27FC236}">
                <a16:creationId xmlns:a16="http://schemas.microsoft.com/office/drawing/2014/main" id="{18303B5A-AC00-4968-B493-6116ECD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27">
            <a:extLst xmlns:a="http://schemas.openxmlformats.org/drawingml/2006/main">
              <a:ext uri="{FF2B5EF4-FFF2-40B4-BE49-F238E27FC236}">
                <a16:creationId xmlns:a16="http://schemas.microsoft.com/office/drawing/2014/main" id="{C5BB08DA-0D63-49F6-A1CF-0ABDD0BA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27">
            <a:extLst xmlns:a="http://schemas.openxmlformats.org/drawingml/2006/main">
              <a:ext uri="{FF2B5EF4-FFF2-40B4-BE49-F238E27FC236}">
                <a16:creationId xmlns:a16="http://schemas.microsoft.com/office/drawing/2014/main" id="{628BD89A-DEC1-4455-A976-D210867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 Resort</a:t>
            </a:r>
          </a:p>
        </p:txBody>
      </p:sp>
      <p:sp>
        <p:nvSpPr>
          <p:cNvPr id="16" name="notes.27">
            <a:extLst xmlns:a="http://schemas.openxmlformats.org/drawingml/2006/main">
              <a:ext uri="{FF2B5EF4-FFF2-40B4-BE49-F238E27FC236}">
                <a16:creationId xmlns:a16="http://schemas.microsoft.com/office/drawing/2014/main" id="{F5C83B98-0733-4242-AE91-69C4883D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This makes the project teacher-friendly because it includes an assessment product.</a:t>
            </a:r>
          </a:p>
        </p:txBody>
      </p:sp>
      <p:sp>
        <p:nvSpPr>
          <p:cNvPr id="17" name="footerLine.27">
            <a:extLst xmlns:a="http://schemas.openxmlformats.org/drawingml/2006/main">
              <a:ext uri="{FF2B5EF4-FFF2-40B4-BE49-F238E27FC236}">
                <a16:creationId xmlns:a16="http://schemas.microsoft.com/office/drawing/2014/main" id="{5736CAA3-BF13-4382-944E-BDD1B869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7">
            <a:extLst xmlns:a="http://schemas.openxmlformats.org/drawingml/2006/main">
              <a:ext uri="{FF2B5EF4-FFF2-40B4-BE49-F238E27FC236}">
                <a16:creationId xmlns:a16="http://schemas.microsoft.com/office/drawing/2014/main" id="{5E2F79F9-A78B-4DD4-BC00-E48A11B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7">
            <a:extLst xmlns:a="http://schemas.openxmlformats.org/drawingml/2006/main">
              <a:ext uri="{FF2B5EF4-FFF2-40B4-BE49-F238E27FC236}">
                <a16:creationId xmlns:a16="http://schemas.microsoft.com/office/drawing/2014/main" id="{8957A505-E44E-47BB-930D-5D6D4247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28/30</a:t>
            </a:r>
          </a:p>
        </p:txBody>
      </p:sp>
    </p:spTree>
    <p:extLst>
      <p:ext uri="{BB962C8B-B14F-4D97-AF65-F5344CB8AC3E}">
        <p14:creationId xmlns:p14="http://schemas.microsoft.com/office/powerpoint/2010/main" val="17725803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8">
            <a:extLst xmlns:a="http://schemas.openxmlformats.org/drawingml/2006/main">
              <a:ext uri="{FF2B5EF4-FFF2-40B4-BE49-F238E27FC236}">
                <a16:creationId xmlns:a16="http://schemas.microsoft.com/office/drawing/2014/main" id="{8C301C68-DF7F-425F-ADAA-243298F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8">
            <a:extLst xmlns:a="http://schemas.openxmlformats.org/drawingml/2006/main">
              <a:ext uri="{FF2B5EF4-FFF2-40B4-BE49-F238E27FC236}">
                <a16:creationId xmlns:a16="http://schemas.microsoft.com/office/drawing/2014/main" id="{50899E0A-8060-4D5D-B0F4-E5C16D1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3" name="glow.28">
            <a:extLst xmlns:a="http://schemas.openxmlformats.org/drawingml/2006/main">
              <a:ext uri="{FF2B5EF4-FFF2-40B4-BE49-F238E27FC236}">
                <a16:creationId xmlns:a16="http://schemas.microsoft.com/office/drawing/2014/main" id="{81245264-D352-4C44-AAD9-98FB51D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B83"/>
          </a:solidFill>
        </p:spPr>
      </p:sp>
      <p:sp>
        <p:nvSpPr>
          <p:cNvPr id="4" name="mainPanel.28">
            <a:extLst xmlns:a="http://schemas.openxmlformats.org/drawingml/2006/main">
              <a:ext uri="{FF2B5EF4-FFF2-40B4-BE49-F238E27FC236}">
                <a16:creationId xmlns:a16="http://schemas.microsoft.com/office/drawing/2014/main" id="{2B43E324-65D9-4232-8AA9-8A8EA6D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8">
            <a:extLst xmlns:a="http://schemas.openxmlformats.org/drawingml/2006/main">
              <a:ext uri="{FF2B5EF4-FFF2-40B4-BE49-F238E27FC236}">
                <a16:creationId xmlns:a16="http://schemas.microsoft.com/office/drawing/2014/main" id="{E611B5CB-7A96-4CB9-82D9-B52D3133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8">
            <a:extLst xmlns:a="http://schemas.openxmlformats.org/drawingml/2006/main">
              <a:ext uri="{FF2B5EF4-FFF2-40B4-BE49-F238E27FC236}">
                <a16:creationId xmlns:a16="http://schemas.microsoft.com/office/drawing/2014/main" id="{61314A3A-42CA-4C6A-B389-F8B3533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8">
            <a:extLst xmlns:a="http://schemas.openxmlformats.org/drawingml/2006/main">
              <a:ext uri="{FF2B5EF4-FFF2-40B4-BE49-F238E27FC236}">
                <a16:creationId xmlns:a16="http://schemas.microsoft.com/office/drawing/2014/main" id="{FF372BF6-572B-4A22-BD16-07771A6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8" name="title.28">
            <a:extLst xmlns:a="http://schemas.openxmlformats.org/drawingml/2006/main">
              <a:ext uri="{FF2B5EF4-FFF2-40B4-BE49-F238E27FC236}">
                <a16:creationId xmlns:a16="http://schemas.microsoft.com/office/drawing/2014/main" id="{D42C7104-0ECC-4DBB-95A8-A889724D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Final Presentation Script</a:t>
            </a:r>
          </a:p>
        </p:txBody>
      </p:sp>
      <p:sp>
        <p:nvSpPr>
          <p:cNvPr id="9" name="subtitle.28">
            <a:extLst xmlns:a="http://schemas.openxmlformats.org/drawingml/2006/main">
              <a:ext uri="{FF2B5EF4-FFF2-40B4-BE49-F238E27FC236}">
                <a16:creationId xmlns:a16="http://schemas.microsoft.com/office/drawing/2014/main" id="{DF818F3C-85B0-47D7-B127-AAF8398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A concise way to explain the project to your teacher.</a:t>
            </a:r>
          </a:p>
        </p:txBody>
      </p:sp>
      <p:sp>
        <p:nvSpPr>
          <p:cNvPr id="10" name="formulaCard.28">
            <a:extLst xmlns:a="http://schemas.openxmlformats.org/drawingml/2006/main">
              <a:ext uri="{FF2B5EF4-FFF2-40B4-BE49-F238E27FC236}">
                <a16:creationId xmlns:a16="http://schemas.microsoft.com/office/drawing/2014/main" id="{1B08D7DB-12F1-4A83-A057-A1C2E24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11" name="formula.28">
            <a:extLst xmlns:a="http://schemas.openxmlformats.org/drawingml/2006/main">
              <a:ext uri="{FF2B5EF4-FFF2-40B4-BE49-F238E27FC236}">
                <a16:creationId xmlns:a16="http://schemas.microsoft.com/office/drawing/2014/main" id="{B5788D53-B47F-419A-BD4D-360C8C6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Teach → play → show code → reflect</a:t>
            </a:r>
          </a:p>
        </p:txBody>
      </p:sp>
      <p:sp>
        <p:nvSpPr>
          <p:cNvPr id="12" name="bullets.28">
            <a:extLst xmlns:a="http://schemas.openxmlformats.org/drawingml/2006/main">
              <a:ext uri="{FF2B5EF4-FFF2-40B4-BE49-F238E27FC236}">
                <a16:creationId xmlns:a16="http://schemas.microsoft.com/office/drawing/2014/main" id="{BCFB9D68-8321-44FF-8C96-5B18ACD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I built a Disney-themed Notion website for AP Calculus BC Unit 6.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website includes a custom multiplayer JavaScript quiz game.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game uses live room codes, timed questions, points, streaks, and badges.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questions and lesson slides can be edited for future classes.</a:t>
            </a:r>
          </a:p>
        </p:txBody>
      </p:sp>
      <p:sp>
        <p:nvSpPr>
          <p:cNvPr id="13" name="iconCard.28">
            <a:extLst xmlns:a="http://schemas.openxmlformats.org/drawingml/2006/main">
              <a:ext uri="{FF2B5EF4-FFF2-40B4-BE49-F238E27FC236}">
                <a16:creationId xmlns:a16="http://schemas.microsoft.com/office/drawing/2014/main" id="{6FEE1846-435F-4397-A1BA-DF94776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FF"/>
          </a:solidFill>
        </p:spPr>
      </p:sp>
      <p:sp>
        <p:nvSpPr>
          <p:cNvPr id="14" name="icon.28">
            <a:extLst xmlns:a="http://schemas.openxmlformats.org/drawingml/2006/main">
              <a:ext uri="{FF2B5EF4-FFF2-40B4-BE49-F238E27FC236}">
                <a16:creationId xmlns:a16="http://schemas.microsoft.com/office/drawing/2014/main" id="{BA154C43-5B5A-4AE4-B16A-715F731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🏰</a:t>
            </a:r>
          </a:p>
        </p:txBody>
      </p:sp>
      <p:sp>
        <p:nvSpPr>
          <p:cNvPr id="15" name="theme.28">
            <a:extLst xmlns:a="http://schemas.openxmlformats.org/drawingml/2006/main">
              <a:ext uri="{FF2B5EF4-FFF2-40B4-BE49-F238E27FC236}">
                <a16:creationId xmlns:a16="http://schemas.microsoft.com/office/drawing/2014/main" id="{5D57EF80-F872-417B-8DFC-D4581B5A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Happily Ever After</a:t>
            </a:r>
          </a:p>
        </p:txBody>
      </p:sp>
      <p:sp>
        <p:nvSpPr>
          <p:cNvPr id="16" name="notes.28">
            <a:extLst xmlns:a="http://schemas.openxmlformats.org/drawingml/2006/main">
              <a:ext uri="{FF2B5EF4-FFF2-40B4-BE49-F238E27FC236}">
                <a16:creationId xmlns:a16="http://schemas.microsoft.com/office/drawing/2014/main" id="{C6C6AF34-D7EC-41C4-902F-A9B6250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End by showing data/questions.js and explaining that the project is reusable.</a:t>
            </a:r>
          </a:p>
        </p:txBody>
      </p:sp>
      <p:sp>
        <p:nvSpPr>
          <p:cNvPr id="17" name="footerLine.28">
            <a:extLst xmlns:a="http://schemas.openxmlformats.org/drawingml/2006/main">
              <a:ext uri="{FF2B5EF4-FFF2-40B4-BE49-F238E27FC236}">
                <a16:creationId xmlns:a16="http://schemas.microsoft.com/office/drawing/2014/main" id="{3F1C721F-EC57-4CFD-856B-3409EDDD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8">
            <a:extLst xmlns:a="http://schemas.openxmlformats.org/drawingml/2006/main">
              <a:ext uri="{FF2B5EF4-FFF2-40B4-BE49-F238E27FC236}">
                <a16:creationId xmlns:a16="http://schemas.microsoft.com/office/drawing/2014/main" id="{345E6C20-B618-49FB-85F8-5C2B9D8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8">
            <a:extLst xmlns:a="http://schemas.openxmlformats.org/drawingml/2006/main">
              <a:ext uri="{FF2B5EF4-FFF2-40B4-BE49-F238E27FC236}">
                <a16:creationId xmlns:a16="http://schemas.microsoft.com/office/drawing/2014/main" id="{E7515806-24E5-43E5-B8F7-8C52332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29/30</a:t>
            </a:r>
          </a:p>
        </p:txBody>
      </p:sp>
    </p:spTree>
    <p:extLst>
      <p:ext uri="{BB962C8B-B14F-4D97-AF65-F5344CB8AC3E}">
        <p14:creationId xmlns:p14="http://schemas.microsoft.com/office/powerpoint/2010/main" val="13113399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.29">
            <a:extLst xmlns:a="http://schemas.openxmlformats.org/drawingml/2006/main">
              <a:ext uri="{FF2B5EF4-FFF2-40B4-BE49-F238E27FC236}">
                <a16:creationId xmlns:a16="http://schemas.microsoft.com/office/drawing/2014/main" id="{EDEEC075-B944-4C41-8929-C83BAEF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917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</p:spPr>
      </p:sp>
      <p:sp>
        <p:nvSpPr>
          <p:cNvPr id="2" name="accent.29">
            <a:extLst xmlns:a="http://schemas.openxmlformats.org/drawingml/2006/main">
              <a:ext uri="{FF2B5EF4-FFF2-40B4-BE49-F238E27FC236}">
                <a16:creationId xmlns:a16="http://schemas.microsoft.com/office/drawing/2014/main" id="{3E98D94C-E30B-4359-A44B-EB6098B3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3" name="glow.29">
            <a:extLst xmlns:a="http://schemas.openxmlformats.org/drawingml/2006/main">
              <a:ext uri="{FF2B5EF4-FFF2-40B4-BE49-F238E27FC236}">
                <a16:creationId xmlns:a16="http://schemas.microsoft.com/office/drawing/2014/main" id="{186D1EE5-7B4E-4FD7-A4A7-3AFF750A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-1019175"/>
            <a:ext cx="5334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2341"/>
          </a:solidFill>
        </p:spPr>
      </p:sp>
      <p:sp>
        <p:nvSpPr>
          <p:cNvPr id="4" name="mainPanel.29">
            <a:extLst xmlns:a="http://schemas.openxmlformats.org/drawingml/2006/main">
              <a:ext uri="{FF2B5EF4-FFF2-40B4-BE49-F238E27FC236}">
                <a16:creationId xmlns:a16="http://schemas.microsoft.com/office/drawing/2014/main" id="{156838F5-1492-4D07-9ED6-FF47419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1975"/>
            <a:ext cx="726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B22"/>
          </a:solidFill>
        </p:spPr>
      </p:sp>
      <p:sp>
        <p:nvSpPr>
          <p:cNvPr id="5" name="sidePanel.29">
            <a:extLst xmlns:a="http://schemas.openxmlformats.org/drawingml/2006/main">
              <a:ext uri="{FF2B5EF4-FFF2-40B4-BE49-F238E27FC236}">
                <a16:creationId xmlns:a16="http://schemas.microsoft.com/office/drawing/2014/main" id="{597D43AF-63D5-485C-A02F-ACC2F83A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1975"/>
            <a:ext cx="3457575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32"/>
          </a:solidFill>
        </p:spPr>
      </p:sp>
      <p:sp>
        <p:nvSpPr>
          <p:cNvPr id="6" name="kickerPill.29">
            <a:extLst xmlns:a="http://schemas.openxmlformats.org/drawingml/2006/main">
              <a:ext uri="{FF2B5EF4-FFF2-40B4-BE49-F238E27FC236}">
                <a16:creationId xmlns:a16="http://schemas.microsoft.com/office/drawing/2014/main" id="{F389861F-D066-494E-A06B-BAEF9F01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2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2"/>
          </a:solidFill>
        </p:spPr>
      </p:sp>
      <p:sp>
        <p:nvSpPr>
          <p:cNvPr id="7" name="kicker.29">
            <a:extLst xmlns:a="http://schemas.openxmlformats.org/drawingml/2006/main">
              <a:ext uri="{FF2B5EF4-FFF2-40B4-BE49-F238E27FC236}">
                <a16:creationId xmlns:a16="http://schemas.microsoft.com/office/drawing/2014/main" id="{8E925097-FB42-4879-B8C2-5EB68C0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178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8" name="title.29">
            <a:extLst xmlns:a="http://schemas.openxmlformats.org/drawingml/2006/main">
              <a:ext uri="{FF2B5EF4-FFF2-40B4-BE49-F238E27FC236}">
                <a16:creationId xmlns:a16="http://schemas.microsoft.com/office/drawing/2014/main" id="{D248A9E8-72F7-4B9C-B0E9-594EA1A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6477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375" b="1">
                <a:solidFill>
                  <a:srgbClr val="F8F5EE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8F5EE"/>
                </a:solidFill>
                <a:latin typeface="Georgia"/>
                <a:ea typeface="Georgia"/>
                <a:cs typeface="Georgia"/>
              </a:rPr>
              <a:t>Course Alignment</a:t>
            </a:r>
          </a:p>
        </p:txBody>
      </p:sp>
      <p:sp>
        <p:nvSpPr>
          <p:cNvPr id="9" name="subtitle.29">
            <a:extLst xmlns:a="http://schemas.openxmlformats.org/drawingml/2006/main">
              <a:ext uri="{FF2B5EF4-FFF2-40B4-BE49-F238E27FC236}">
                <a16:creationId xmlns:a16="http://schemas.microsoft.com/office/drawing/2014/main" id="{9E781383-298E-4F20-82F4-A10CBD2F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63531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C3C8D3"/>
                </a:solidFill>
                <a:latin typeface="Aptos"/>
                <a:ea typeface="Aptos"/>
                <a:cs typeface="Aptos"/>
              </a:rPr>
              <a:t>Built around AP Calculus BC Unit 6.</a:t>
            </a:r>
          </a:p>
        </p:txBody>
      </p:sp>
      <p:sp>
        <p:nvSpPr>
          <p:cNvPr id="10" name="formulaCard.29">
            <a:extLst xmlns:a="http://schemas.openxmlformats.org/drawingml/2006/main">
              <a:ext uri="{FF2B5EF4-FFF2-40B4-BE49-F238E27FC236}">
                <a16:creationId xmlns:a16="http://schemas.microsoft.com/office/drawing/2014/main" id="{5D11A6DE-16DF-4BAB-9E46-01E9D4F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6353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</p:spPr>
      </p:sp>
      <p:sp>
        <p:nvSpPr>
          <p:cNvPr id="11" name="formula.29">
            <a:extLst xmlns:a="http://schemas.openxmlformats.org/drawingml/2006/main">
              <a:ext uri="{FF2B5EF4-FFF2-40B4-BE49-F238E27FC236}">
                <a16:creationId xmlns:a16="http://schemas.microsoft.com/office/drawing/2014/main" id="{795F171A-35A8-4889-9FE5-93DCB19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58388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College Board Unit 6 = Integration and Accumulation of Change</a:t>
            </a:r>
          </a:p>
        </p:txBody>
      </p:sp>
      <p:sp>
        <p:nvSpPr>
          <p:cNvPr id="12" name="bullets.29">
            <a:extLst xmlns:a="http://schemas.openxmlformats.org/drawingml/2006/main">
              <a:ext uri="{FF2B5EF4-FFF2-40B4-BE49-F238E27FC236}">
                <a16:creationId xmlns:a16="http://schemas.microsoft.com/office/drawing/2014/main" id="{1C65D805-17B1-4B82-8990-D971249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48200"/>
            <a:ext cx="6353175" cy="1419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0745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College Board describes Unit 6 as integration and accumulation of change.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The unit includes definite integrals, Riemann sums, accumulation functions, FTC, antiderivatives, techniques, and improper integrals.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College Board lists Unit 6 as 17%-20% of the AP Calculus BC multiple-choice section.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8F5EE"/>
                </a:solidFill>
                <a:latin typeface="Aptos"/>
                <a:ea typeface="Aptos"/>
                <a:cs typeface="Aptos"/>
              </a:rPr>
              <a:t>• This project is an unofficial classroom theme, not affiliated with Disney or College Board.</a:t>
            </a:r>
          </a:p>
        </p:txBody>
      </p:sp>
      <p:sp>
        <p:nvSpPr>
          <p:cNvPr id="13" name="iconCard.29">
            <a:extLst xmlns:a="http://schemas.openxmlformats.org/drawingml/2006/main">
              <a:ext uri="{FF2B5EF4-FFF2-40B4-BE49-F238E27FC236}">
                <a16:creationId xmlns:a16="http://schemas.microsoft.com/office/drawing/2014/main" id="{3A2DDA35-75BC-46B3-81AE-841E9598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90600"/>
            <a:ext cx="24384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</p:spPr>
      </p:sp>
      <p:sp>
        <p:nvSpPr>
          <p:cNvPr id="14" name="icon.29">
            <a:extLst xmlns:a="http://schemas.openxmlformats.org/drawingml/2006/main">
              <a:ext uri="{FF2B5EF4-FFF2-40B4-BE49-F238E27FC236}">
                <a16:creationId xmlns:a16="http://schemas.microsoft.com/office/drawing/2014/main" id="{F44BF335-E169-4E7A-AD58-DC86CC7B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67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F8F5EE"/>
                </a:solidFill>
                <a:latin typeface="Aptos"/>
                <a:ea typeface="Aptos"/>
                <a:cs typeface="Aptos"/>
              </a:defRPr>
            </a:pPr>
            <a:r>
              <a:rPr sz="4800">
                <a:solidFill>
                  <a:srgbClr val="F8F5EE"/>
                </a:solidFill>
                <a:latin typeface="Aptos"/>
                <a:ea typeface="Aptos"/>
                <a:cs typeface="Aptos"/>
              </a:rPr>
              <a:t>✨</a:t>
            </a:r>
          </a:p>
        </p:txBody>
      </p:sp>
      <p:sp>
        <p:nvSpPr>
          <p:cNvPr id="15" name="theme.29">
            <a:extLst xmlns:a="http://schemas.openxmlformats.org/drawingml/2006/main">
              <a:ext uri="{FF2B5EF4-FFF2-40B4-BE49-F238E27FC236}">
                <a16:creationId xmlns:a16="http://schemas.microsoft.com/office/drawing/2014/main" id="{88FB452A-7D1B-4C48-80A2-FCB2100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4384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Notes</a:t>
            </a:r>
          </a:p>
        </p:txBody>
      </p:sp>
      <p:sp>
        <p:nvSpPr>
          <p:cNvPr id="16" name="notes.29">
            <a:extLst xmlns:a="http://schemas.openxmlformats.org/drawingml/2006/main">
              <a:ext uri="{FF2B5EF4-FFF2-40B4-BE49-F238E27FC236}">
                <a16:creationId xmlns:a16="http://schemas.microsoft.com/office/drawing/2014/main" id="{5CC684AE-FA46-4082-91C5-0B58E7A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14625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3C8D3"/>
                </a:solidFill>
                <a:latin typeface="Aptos"/>
                <a:ea typeface="Aptos"/>
                <a:cs typeface="Aptos"/>
              </a:rPr>
              <a:t>Source checked April 30, 2026: College Board AP Calculus BC course page and AP Central course overview.</a:t>
            </a:r>
          </a:p>
        </p:txBody>
      </p:sp>
      <p:sp>
        <p:nvSpPr>
          <p:cNvPr id="17" name="footerLine.29">
            <a:extLst xmlns:a="http://schemas.openxmlformats.org/drawingml/2006/main">
              <a:ext uri="{FF2B5EF4-FFF2-40B4-BE49-F238E27FC236}">
                <a16:creationId xmlns:a16="http://schemas.microsoft.com/office/drawing/2014/main" id="{D92AC293-DC35-440C-8442-EB18ADA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6"/>
          </a:solidFill>
        </p:spPr>
      </p:sp>
      <p:sp>
        <p:nvSpPr>
          <p:cNvPr id="18" name="footerLeft.29">
            <a:extLst xmlns:a="http://schemas.openxmlformats.org/drawingml/2006/main">
              <a:ext uri="{FF2B5EF4-FFF2-40B4-BE49-F238E27FC236}">
                <a16:creationId xmlns:a16="http://schemas.microsoft.com/office/drawing/2014/main" id="{39484898-5DBC-4AF2-9895-52F21AB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3200"/>
            <a:ext cx="54578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Integral Imperial Intelligence • Unit 6 Calc BC</a:t>
            </a:r>
          </a:p>
        </p:txBody>
      </p:sp>
      <p:sp>
        <p:nvSpPr>
          <p:cNvPr id="19" name="footerRight.29">
            <a:extLst xmlns:a="http://schemas.openxmlformats.org/drawingml/2006/main">
              <a:ext uri="{FF2B5EF4-FFF2-40B4-BE49-F238E27FC236}">
                <a16:creationId xmlns:a16="http://schemas.microsoft.com/office/drawing/2014/main" id="{2A652FAB-1E80-4071-8CDE-CF23A7E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553200"/>
            <a:ext cx="866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C3C8D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C3C8D3"/>
                </a:solidFill>
                <a:latin typeface="Aptos"/>
                <a:ea typeface="Aptos"/>
                <a:cs typeface="Aptos"/>
              </a:rPr>
              <a:t>30/30</a:t>
            </a:r>
          </a:p>
        </p:txBody>
      </p:sp>
    </p:spTree>
    <p:extLst>
      <p:ext uri="{BB962C8B-B14F-4D97-AF65-F5344CB8AC3E}">
        <p14:creationId xmlns:p14="http://schemas.microsoft.com/office/powerpoint/2010/main" val="1353155821"/>
      </p:ext>
    </p:extLst>
  </p:cSld>
</p:sld>
</file>

<file path=ppt/theme/theme1.xml><?xml version="1.0" encoding="utf-8"?>
<a:theme xmlns:a="http://schemas.openxmlformats.org/drawingml/2006/main" name="Integral Imperial Intelligence">
  <a:themeElements>
    <a:clrScheme name="Integral Imperial Intelligence"/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ntegral Imperial Intelligen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/>
      <a:effectStyleLst/>
      <a:bgFillStyleLst/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2026-04-30T17:11:26.3720000Z</dcterms:created>
  <dcterms:modified xsi:type="dcterms:W3CDTF">2026-04-30T17:11:26.3730000Z</dcterms:modified>
</coreProperties>
</file>